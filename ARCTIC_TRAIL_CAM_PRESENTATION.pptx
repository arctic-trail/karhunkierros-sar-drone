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42442"/>
            <a:ext cx="2975521" cy="219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68"/>
              </a:lnSpc>
              <a:buNone/>
            </a:pPr>
            <a:r>
              <a:rPr lang="en-US" sz="2640" b="1" spc="-7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Arctic Trail Cam &amp; Message Relay System</a:t>
            </a:r>
            <a:endParaRPr lang="en-US" sz="2640" dirty="0"/>
          </a:p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Off-grid detection, signed imaging and one-way delivery for remote sites</a:t>
            </a:r>
            <a:endParaRPr lang="en-US" sz="2640" dirty="0"/>
          </a:p>
          <a:p>
            <a:pPr algn="l" indent="0" marL="0">
              <a:lnSpc>
                <a:spcPts val="1680"/>
              </a:lnSpc>
              <a:spcBef>
                <a:spcPts val="480"/>
              </a:spcBef>
              <a:buNone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v0.9-beta experimental prototype · 20 Oct 2026</a:t>
            </a:r>
            <a:endParaRPr lang="en-US" sz="2640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7078" y="731118"/>
            <a:ext cx="4930164" cy="36811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34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2288" b="1" spc="-6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Purpose: Evidence-Quality Images Off-Grid</a:t>
            </a:r>
            <a:endParaRPr lang="en-US" sz="2288" dirty="0"/>
          </a:p>
        </p:txBody>
      </p:sp>
      <p:sp>
        <p:nvSpPr>
          <p:cNvPr id="3" name="Text 1"/>
          <p:cNvSpPr/>
          <p:nvPr/>
        </p:nvSpPr>
        <p:spPr>
          <a:xfrm>
            <a:off x="447005" y="1003920"/>
            <a:ext cx="3333304" cy="2614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1456"/>
              </a:lnSpc>
              <a:spcAft>
                <a:spcPts val="416"/>
              </a:spcAft>
              <a:buSzPct val="100000"/>
              <a:buChar char="•"/>
            </a:pPr>
            <a:r>
              <a:rPr lang="en-US" sz="104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it serves:</a:t>
            </a:r>
            <a:pPr indent="0" marL="0">
              <a:lnSpc>
                <a:spcPts val="1456"/>
              </a:lnSpc>
              <a:spcAft>
                <a:spcPts val="416"/>
              </a:spcAft>
              <a:buNone/>
            </a:pPr>
            <a:r>
              <a:rPr lang="en-US" sz="104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remote cabin owners, wildlife-trail observers and forest research plots in eastern and northern Finland</a:t>
            </a:r>
            <a:endParaRPr lang="en-US" sz="1040" dirty="0"/>
          </a:p>
          <a:p>
            <a:pPr marL="228600" indent="-228600">
              <a:lnSpc>
                <a:spcPts val="1456"/>
              </a:lnSpc>
              <a:spcAft>
                <a:spcPts val="416"/>
              </a:spcAft>
              <a:buSzPct val="100000"/>
              <a:buChar char="•"/>
            </a:pPr>
            <a:r>
              <a:rPr lang="en-US" sz="104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does:</a:t>
            </a:r>
            <a:pPr indent="0" marL="0">
              <a:lnSpc>
                <a:spcPts val="1456"/>
              </a:lnSpc>
              <a:spcAft>
                <a:spcPts val="416"/>
              </a:spcAft>
              <a:buNone/>
            </a:pPr>
            <a:r>
              <a:rPr lang="en-US" sz="104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wakes on a qualifying event, takes a 1080p photo, analyses it locally, signs it and sends it </a:t>
            </a:r>
            <a:pPr indent="0" marL="0">
              <a:lnSpc>
                <a:spcPts val="1456"/>
              </a:lnSpc>
              <a:spcAft>
                <a:spcPts val="416"/>
              </a:spcAft>
              <a:buNone/>
            </a:pPr>
            <a:r>
              <a:rPr lang="en-US" sz="104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way</a:t>
            </a:r>
            <a:pPr indent="0" marL="0">
              <a:lnSpc>
                <a:spcPts val="1456"/>
              </a:lnSpc>
              <a:spcAft>
                <a:spcPts val="416"/>
              </a:spcAft>
              <a:buNone/>
            </a:pPr>
            <a:r>
              <a:rPr lang="en-US" sz="104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a local collector</a:t>
            </a:r>
            <a:endParaRPr lang="en-US" sz="1040" dirty="0"/>
          </a:p>
          <a:p>
            <a:pPr marL="228600" indent="-228600">
              <a:lnSpc>
                <a:spcPts val="1456"/>
              </a:lnSpc>
              <a:spcAft>
                <a:spcPts val="416"/>
              </a:spcAft>
              <a:buSzPct val="100000"/>
              <a:buChar char="•"/>
            </a:pPr>
            <a:r>
              <a:rPr lang="en-US" sz="104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 priorities:</a:t>
            </a:r>
            <a:pPr indent="0" marL="0">
              <a:lnSpc>
                <a:spcPts val="1456"/>
              </a:lnSpc>
              <a:spcAft>
                <a:spcPts val="416"/>
              </a:spcAft>
              <a:buNone/>
            </a:pPr>
            <a:r>
              <a:rPr lang="en-US" sz="104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very low standby power, small visual footprint, no return path into the field node, no SIM card or subscription</a:t>
            </a:r>
            <a:endParaRPr lang="en-US" sz="1040" dirty="0"/>
          </a:p>
          <a:p>
            <a:pPr marL="228600" indent="-228600">
              <a:lnSpc>
                <a:spcPts val="1456"/>
              </a:lnSpc>
              <a:spcAft>
                <a:spcPts val="416"/>
              </a:spcAft>
              <a:buSzPct val="100000"/>
              <a:buChar char="•"/>
            </a:pPr>
            <a:r>
              <a:rPr lang="en-US" sz="104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Status:</a:t>
            </a:r>
            <a:pPr indent="0" marL="0">
              <a:lnSpc>
                <a:spcPts val="1456"/>
              </a:lnSpc>
              <a:spcAft>
                <a:spcPts val="416"/>
              </a:spcAft>
              <a:buNone/>
            </a:pPr>
            <a:r>
              <a:rPr lang="en-US" sz="104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v0.9-beta. Software and Stage 1–3 bench bring-up verified. </a:t>
            </a:r>
            <a:pPr indent="0" marL="0">
              <a:lnSpc>
                <a:spcPts val="1456"/>
              </a:lnSpc>
              <a:spcAft>
                <a:spcPts val="416"/>
              </a:spcAft>
              <a:buNone/>
            </a:pPr>
            <a:r>
              <a:rPr lang="en-US" sz="104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Field performance not yet demonstrated</a:t>
            </a:r>
            <a:endParaRPr lang="en-US" sz="1040" dirty="0"/>
          </a:p>
        </p:txBody>
      </p:sp>
      <p:pic>
        <p:nvPicPr>
          <p:cNvPr id="4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4306" y="1099840"/>
            <a:ext cx="4532713" cy="33844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2288" b="1" spc="-6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 Landscape Architecture: Sense at the Tree, Decide at the Roots, Deliver One Way</a:t>
            </a:r>
            <a:endParaRPr lang="en-US" sz="2288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12" y="1316534"/>
            <a:ext cx="7977576" cy="33844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2288" b="1" spc="-6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Three-Zone Tree Cutaway: A Small Eye Up High, the Heavy Parts Buried Below</a:t>
            </a:r>
            <a:endParaRPr lang="en-US" sz="2288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12" y="1316534"/>
            <a:ext cx="7977576" cy="33844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2288" b="1" spc="-6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Camera Pod Exploded View: One Window, One Camera, Hidden Radar</a:t>
            </a:r>
            <a:endParaRPr lang="en-US" sz="2288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12" y="1316534"/>
            <a:ext cx="7977576" cy="33844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2288" b="1" spc="-6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Umbilical and Root Vault: Power Goes Up, Camera Data Comes Down</a:t>
            </a:r>
            <a:endParaRPr lang="en-US" sz="2288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12" y="1316534"/>
            <a:ext cx="7977576" cy="33844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2288" b="1" spc="-6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Sensor Roles: Three Different Physical Signals, Each with Blind Spots</a:t>
            </a:r>
            <a:endParaRPr lang="en-US" sz="2288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12" y="1316534"/>
            <a:ext cx="7977576" cy="33844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690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19"/>
              </a:lnSpc>
              <a:buNone/>
            </a:pPr>
            <a:r>
              <a:rPr lang="en-US" sz="2266" b="1" spc="-68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Wake and Power Sequence: The Pi 5 Is Off Until an Event Qualifies</a:t>
            </a:r>
            <a:endParaRPr lang="en-US" sz="2266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538" y="1309687"/>
            <a:ext cx="7900924" cy="33519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2288" b="1" spc="-6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Capture and Local AI: Detection Runs at the Tree, Not in a Cloud</a:t>
            </a:r>
            <a:endParaRPr lang="en-US" sz="2288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12" y="1316534"/>
            <a:ext cx="7977576" cy="33844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2288" b="1" spc="-6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Night Imaging: Invisible 940 nm Light and a Baffle Against Window Glare</a:t>
            </a:r>
            <a:endParaRPr lang="en-US" sz="2288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12" y="1316534"/>
            <a:ext cx="7977576" cy="33844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2288" b="1" spc="-6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Optical Diode: The Local Loop Keeps the Link Up; Only One Strand Leaves the Tree</a:t>
            </a:r>
            <a:endParaRPr lang="en-US" sz="2288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12" y="1316534"/>
            <a:ext cx="7977576" cy="33844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2288" b="1" spc="-6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Signed Message Journey: Repetition Replaces Acknowledgement</a:t>
            </a:r>
            <a:endParaRPr lang="en-US" sz="2288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12" y="1316534"/>
            <a:ext cx="7977576" cy="33844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2288" b="1" spc="-6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Collector Experience: An Offline Browser Console at the Cabin</a:t>
            </a:r>
            <a:endParaRPr lang="en-US" sz="2288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12" y="1316534"/>
            <a:ext cx="7977576" cy="33844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2288" b="1" spc="-6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Configuration 1 — Direct Fiber: The Simplest Path When the Cabin Is Within Reach</a:t>
            </a:r>
            <a:endParaRPr lang="en-US" sz="2288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12" y="1316534"/>
            <a:ext cx="7977576" cy="33844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2288" b="1" spc="-6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Configuration 2 — Woods Dead-Drop: Images Survive Even If the Pod Does Not</a:t>
            </a:r>
            <a:endParaRPr lang="en-US" sz="2288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12" y="1316534"/>
            <a:ext cx="7977576" cy="33844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2288" b="1" spc="-6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Configuration 3 — Optical Water Bridge (Proposed): Crossing a Gap Without Cable</a:t>
            </a:r>
            <a:endParaRPr lang="en-US" sz="2288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12" y="1316534"/>
            <a:ext cx="7977576" cy="33844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38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2"/>
              </a:lnSpc>
              <a:buNone/>
            </a:pPr>
            <a:r>
              <a:rPr lang="en-US" sz="2552" b="1" spc="-77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Relay Choices: Match the Path to the Gap</a:t>
            </a:r>
            <a:endParaRPr lang="en-US" sz="2552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919683"/>
          <a:ext cx="8382000" cy="914400"/>
        </p:xfrm>
        <a:graphic>
          <a:graphicData uri="http://schemas.openxmlformats.org/drawingml/2006/table">
            <a:tbl>
              <a:tblPr/>
              <a:tblGrid>
                <a:gridCol w="1676370"/>
                <a:gridCol w="1676370"/>
                <a:gridCol w="1676370"/>
                <a:gridCol w="1676370"/>
                <a:gridCol w="167651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b="1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b="1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Distance basis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b="1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 emitted?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b="1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constraint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b="1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OS2 fiber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m–10 km design envelope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(optical)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Cable laying and protection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 diode reported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Woods dead-drop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~200 m fiber standoff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(optical)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retrieval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Optical water bridge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10–100 m gap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(1310 nm light)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Alignment, weather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D radio relay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m–20 km research scope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(2.4 GHz)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Authorization, throughput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 ordered; trials pending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868/915 MHz backhaul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quantified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Authorization, low data rate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Optical Builds A/B/C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alternatives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Research-stage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 of scope here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2288" b="1" spc="-6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D Transmitter: SDR Signal Shaped, Amplified, Filtered and Aimed</a:t>
            </a:r>
            <a:endParaRPr lang="en-US" sz="2288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12" y="1316534"/>
            <a:ext cx="7977576" cy="338442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2288" b="1" spc="-6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D Receiver: Filter First, Then Amplify the Faint Scattered Signal</a:t>
            </a:r>
            <a:endParaRPr lang="en-US" sz="2288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12" y="1316534"/>
            <a:ext cx="7977576" cy="33844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4862885"/>
            <a:ext cx="8382000" cy="18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6"/>
              </a:lnSpc>
              <a:buNone/>
            </a:pPr>
            <a:r>
              <a:rPr lang="en-US" sz="1040" i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Power: regulated 5 V to Pico 2, LNA and SDR; host supply as required. Band-pass filter is passive.</a:t>
            </a:r>
            <a:endParaRPr lang="en-US" sz="10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2288" b="1" spc="-6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Store-and-Forward with Error Correction: Small, Robust Pieces, Sent Repeatedly</a:t>
            </a:r>
            <a:endParaRPr lang="en-US" sz="2288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12" y="1316534"/>
            <a:ext cx="7977576" cy="338442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73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420" b="1" spc="-73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Range and Throughput Limits: What the Relay Can and Cannot Claim Today</a:t>
            </a:r>
            <a:endParaRPr lang="en-US" sz="2420" dirty="0"/>
          </a:p>
        </p:txBody>
      </p:sp>
      <p:sp>
        <p:nvSpPr>
          <p:cNvPr id="3" name="Text 1"/>
          <p:cNvSpPr/>
          <p:nvPr/>
        </p:nvSpPr>
        <p:spPr>
          <a:xfrm>
            <a:off x="450800" y="1334393"/>
            <a:ext cx="3981599" cy="1829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Reported scope</a:t>
            </a:r>
            <a:endParaRPr lang="en-US" sz="1100" dirty="0"/>
          </a:p>
          <a:p>
            <a:pPr marL="228600" indent="-228600">
              <a:lnSpc>
                <a:spcPts val="1540"/>
              </a:lnSpc>
              <a:spcBef>
                <a:spcPts val="989"/>
              </a:spcBef>
              <a:spcAft>
                <a:spcPts val="440"/>
              </a:spcAft>
              <a:buSzPct val="100000"/>
              <a:buChar char="•"/>
            </a:pPr>
            <a:r>
              <a:rPr lang="en-US" sz="11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200 m–20 km non-line-of-sight canopy/scatter paths are </a:t>
            </a:r>
            <a:pPr indent="0" marL="0">
              <a:lnSpc>
                <a:spcPts val="1540"/>
              </a:lnSpc>
              <a:spcBef>
                <a:spcPts val="989"/>
              </a:spcBef>
              <a:spcAft>
                <a:spcPts val="440"/>
              </a:spcAft>
              <a:buNone/>
            </a:pPr>
            <a:r>
              <a:rPr lang="en-US" sz="110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and research scope</a:t>
            </a:r>
            <a:endParaRPr lang="en-US" sz="1100" dirty="0"/>
          </a:p>
          <a:p>
            <a:pPr marL="228600" indent="-228600">
              <a:lnSpc>
                <a:spcPts val="1540"/>
              </a:lnSpc>
              <a:spcAft>
                <a:spcPts val="440"/>
              </a:spcAft>
              <a:buSzPct val="100000"/>
              <a:buChar char="•"/>
            </a:pPr>
            <a:r>
              <a:rPr lang="en-US" sz="11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SNR figures in project PDFs are </a:t>
            </a:r>
            <a:pPr indent="0" marL="0">
              <a:lnSpc>
                <a:spcPts val="1540"/>
              </a:lnSpc>
              <a:spcAft>
                <a:spcPts val="440"/>
              </a:spcAft>
              <a:buNone/>
            </a:pPr>
            <a:r>
              <a:rPr lang="en-US" sz="110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outputs</a:t>
            </a:r>
            <a:endParaRPr lang="en-US" sz="1100" dirty="0"/>
          </a:p>
          <a:p>
            <a:pPr marL="228600" indent="-228600">
              <a:lnSpc>
                <a:spcPts val="1540"/>
              </a:lnSpc>
              <a:spcAft>
                <a:spcPts val="440"/>
              </a:spcAft>
              <a:buSzPct val="100000"/>
              <a:buChar char="•"/>
            </a:pPr>
            <a:r>
              <a:rPr lang="en-US" sz="11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24/24 software/codec/FEC/channel-simulation tests reported; Build D hardware </a:t>
            </a:r>
            <a:pPr indent="0" marL="0">
              <a:lnSpc>
                <a:spcPts val="1540"/>
              </a:lnSpc>
              <a:spcAft>
                <a:spcPts val="440"/>
              </a:spcAft>
              <a:buNone/>
            </a:pPr>
            <a:r>
              <a:rPr lang="en-US" sz="110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ordered</a:t>
            </a:r>
            <a:endParaRPr lang="en-US" sz="1100" dirty="0"/>
          </a:p>
          <a:p>
            <a:pPr marL="228600" indent="-228600">
              <a:lnSpc>
                <a:spcPts val="1540"/>
              </a:lnSpc>
              <a:spcAft>
                <a:spcPts val="440"/>
              </a:spcAft>
              <a:buSzPct val="100000"/>
              <a:buChar char="•"/>
            </a:pPr>
            <a:r>
              <a:rPr lang="en-US" sz="11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Physical relay field trials: </a:t>
            </a:r>
            <a:pPr indent="0" marL="0">
              <a:lnSpc>
                <a:spcPts val="1540"/>
              </a:lnSpc>
              <a:spcAft>
                <a:spcPts val="440"/>
              </a:spcAft>
              <a:buNone/>
            </a:pPr>
            <a:r>
              <a:rPr lang="en-US" sz="110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11675" y="1334393"/>
            <a:ext cx="3981524" cy="210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claimed</a:t>
            </a:r>
            <a:endParaRPr lang="en-US" sz="1100" dirty="0"/>
          </a:p>
          <a:p>
            <a:pPr marL="228600" indent="-228600">
              <a:lnSpc>
                <a:spcPts val="1540"/>
              </a:lnSpc>
              <a:spcBef>
                <a:spcPts val="989"/>
              </a:spcBef>
              <a:spcAft>
                <a:spcPts val="440"/>
              </a:spcAft>
              <a:buSzPct val="100000"/>
              <a:buChar char="•"/>
            </a:pPr>
            <a:r>
              <a:rPr lang="en-US" sz="11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live video and no instantaneous full-image delivery at 20 km</a:t>
            </a:r>
            <a:endParaRPr lang="en-US" sz="1100" dirty="0"/>
          </a:p>
          <a:p>
            <a:pPr marL="228600" indent="-228600">
              <a:lnSpc>
                <a:spcPts val="1540"/>
              </a:lnSpc>
              <a:spcAft>
                <a:spcPts val="440"/>
              </a:spcAft>
              <a:buSzPct val="100000"/>
              <a:buChar char="•"/>
            </a:pPr>
            <a:r>
              <a:rPr lang="en-US" sz="11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Throughput and delivery latency </a:t>
            </a:r>
            <a:pPr indent="0" marL="0">
              <a:lnSpc>
                <a:spcPts val="1540"/>
              </a:lnSpc>
              <a:spcAft>
                <a:spcPts val="440"/>
              </a:spcAft>
              <a:buNone/>
            </a:pPr>
            <a:r>
              <a:rPr lang="en-US" sz="110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need measurement</a:t>
            </a:r>
            <a:endParaRPr lang="en-US" sz="1100" dirty="0"/>
          </a:p>
          <a:p>
            <a:pPr marL="228600" indent="-228600">
              <a:lnSpc>
                <a:spcPts val="1540"/>
              </a:lnSpc>
              <a:spcAft>
                <a:spcPts val="440"/>
              </a:spcAft>
              <a:buSzPct val="100000"/>
              <a:buChar char="•"/>
            </a:pPr>
            <a:r>
              <a:rPr lang="en-US" sz="11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 is not guaranteed; prioritise small messages and crops</a:t>
            </a:r>
            <a:endParaRPr lang="en-US" sz="1100" dirty="0"/>
          </a:p>
          <a:p>
            <a:pPr marL="228600" indent="-228600">
              <a:lnSpc>
                <a:spcPts val="1540"/>
              </a:lnSpc>
              <a:spcAft>
                <a:spcPts val="440"/>
              </a:spcAft>
              <a:buSzPct val="100000"/>
              <a:buChar char="•"/>
            </a:pPr>
            <a:r>
              <a:rPr lang="en-US" sz="11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Weather and season effects on the path are unmeasured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000" y="3645098"/>
            <a:ext cx="8382000" cy="920353"/>
          </a:xfrm>
          <a:prstGeom prst="rect">
            <a:avLst/>
          </a:prstGeom>
          <a:solidFill>
            <a:srgbClr val="F5F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0" y="3645098"/>
            <a:ext cx="33338" cy="920353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4269" y="375482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5790" y="3749873"/>
            <a:ext cx="7767510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10" b="1" spc="-1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sizing has to wait for throughput logs from longer test paths</a:t>
            </a:r>
            <a:endParaRPr lang="en-US" sz="121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375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7"/>
              </a:lnSpc>
              <a:buNone/>
            </a:pPr>
            <a:r>
              <a:rPr lang="en-US" sz="2464" b="1" spc="-74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Emissions Boundary: Not a Zero-RF System</a:t>
            </a:r>
            <a:endParaRPr lang="en-US" sz="2464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903759"/>
          <a:ext cx="8382000" cy="914400"/>
        </p:xfrm>
        <a:graphic>
          <a:graphicData uri="http://schemas.openxmlformats.org/drawingml/2006/table">
            <a:tbl>
              <a:tblPr/>
              <a:tblGrid>
                <a:gridCol w="2794000"/>
                <a:gridCol w="2794000"/>
                <a:gridCol w="2794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b="1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b="1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Emits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b="1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Optical data link (fiber / collimator)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1310 nm light, no RF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 stays inside the fiber, except across the proposed open-air bridge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Magnetometer, geophone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 intentional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Passive sensing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GHz radar (if enabled)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Optional; can be disabled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D 2.4 GHz relay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Optional; authorization required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868/915 MHz backhaul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940 nm IR LEDs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Infrared light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Visible to IR-sensitive cameras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 5 Wi-Fi / Bluetooth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 if left on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Disable for a no-intentional-RF profile</a:t>
                      </a:r>
                      <a:endParaRPr lang="en-US" sz="100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81000" y="3952577"/>
            <a:ext cx="8382000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12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Passive sensing + optical transport, with Wi-Fi/BT off, avoids</a:t>
            </a:r>
            <a:pPr algn="l" indent="0" marL="0">
              <a:lnSpc>
                <a:spcPts val="1568"/>
              </a:lnSpc>
              <a:buNone/>
            </a:pPr>
            <a:r>
              <a:rPr lang="en-US" sz="1120" b="1" i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intentional</a:t>
            </a:r>
            <a:pPr algn="l" indent="0" marL="0">
              <a:lnSpc>
                <a:spcPts val="1568"/>
              </a:lnSpc>
              <a:buNone/>
            </a:pPr>
            <a:r>
              <a:rPr lang="en-US" sz="112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RF.</a:t>
            </a:r>
            <a:pPr algn="l" indent="0" marL="0">
              <a:lnSpc>
                <a:spcPts val="1568"/>
              </a:lnSpc>
              <a:buNone/>
            </a:pPr>
            <a:r>
              <a:rPr lang="en-US" sz="112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system is not zero-RF, undetectable, jam-proof or guaranteed all-weather.</a:t>
            </a:r>
            <a:endParaRPr lang="en-US" sz="11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6"/>
              </a:lnSpc>
              <a:buNone/>
            </a:pPr>
            <a:r>
              <a:rPr lang="en-US" sz="2288" b="1" spc="-6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Arctic Thermal Design: Heat the Window Briefly, Keep the Battery Below the Snow</a:t>
            </a:r>
            <a:endParaRPr lang="en-US" sz="2288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12" y="1316534"/>
            <a:ext cx="7977576" cy="338442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80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68"/>
              </a:lnSpc>
              <a:buNone/>
            </a:pPr>
            <a:r>
              <a:rPr lang="en-US" sz="2640" b="1" spc="-7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Battery Life Projections by Capture Rate and Season</a:t>
            </a:r>
            <a:endParaRPr lang="en-US" sz="2640" dirty="0"/>
          </a:p>
        </p:txBody>
      </p:sp>
      <p:sp>
        <p:nvSpPr>
          <p:cNvPr id="3" name="Text 1"/>
          <p:cNvSpPr/>
          <p:nvPr/>
        </p:nvSpPr>
        <p:spPr>
          <a:xfrm>
            <a:off x="441945" y="1399059"/>
            <a:ext cx="4815036" cy="170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96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Projected battery life (days) — model projections, not field-measured</a:t>
            </a:r>
            <a:endParaRPr lang="en-US" sz="96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1945" y="1711375"/>
          <a:ext cx="4815036" cy="914400"/>
        </p:xfrm>
        <a:graphic>
          <a:graphicData uri="http://schemas.openxmlformats.org/drawingml/2006/table">
            <a:tbl>
              <a:tblPr/>
              <a:tblGrid>
                <a:gridCol w="1605012"/>
                <a:gridCol w="1605012"/>
                <a:gridCol w="16050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b="1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86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b="1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(days)</a:t>
                      </a:r>
                      <a:endParaRPr lang="en-US" sz="86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b="1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Upper (days)</a:t>
                      </a:r>
                      <a:endParaRPr lang="en-US" sz="86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AGM 12 Ah · 10 photos/month · three-season</a:t>
                      </a:r>
                      <a:endParaRPr lang="en-US" sz="86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365</a:t>
                      </a:r>
                      <a:endParaRPr lang="en-US" sz="86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86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AGM 12 Ah · 10 photos/month · winter</a:t>
                      </a:r>
                      <a:endParaRPr lang="en-US" sz="86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86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365</a:t>
                      </a:r>
                      <a:endParaRPr lang="en-US" sz="86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AGM 12 Ah · 10 photos/day</a:t>
                      </a:r>
                      <a:endParaRPr lang="en-US" sz="86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86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86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LiFePO4 15–24 Ah · 10 photos/month</a:t>
                      </a:r>
                      <a:endParaRPr lang="en-US" sz="86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565</a:t>
                      </a:r>
                      <a:endParaRPr lang="en-US" sz="86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900+</a:t>
                      </a:r>
                      <a:endParaRPr lang="en-US" sz="86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41945" y="4173289"/>
            <a:ext cx="4815036" cy="34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960" i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values are source projections, not measurements. LiFePO4 "900+": the source gives an open-ended upper figure of at least 900 days; no higher value is stated.</a:t>
            </a:r>
            <a:endParaRPr lang="en-US" sz="960" dirty="0"/>
          </a:p>
        </p:txBody>
      </p:sp>
      <p:sp>
        <p:nvSpPr>
          <p:cNvPr id="6" name="Text 3"/>
          <p:cNvSpPr/>
          <p:nvPr/>
        </p:nvSpPr>
        <p:spPr>
          <a:xfrm>
            <a:off x="5546527" y="1414314"/>
            <a:ext cx="3140273" cy="2971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Assumptions behind the projections</a:t>
            </a:r>
            <a:endParaRPr lang="en-US" sz="1200" dirty="0"/>
          </a:p>
          <a:p>
            <a:pPr marL="228600" indent="-228600">
              <a:lnSpc>
                <a:spcPts val="1680"/>
              </a:lnSpc>
              <a:spcBef>
                <a:spcPts val="1080"/>
              </a:spcBef>
              <a:spcAft>
                <a:spcPts val="480"/>
              </a:spcAft>
              <a:buSzPct val="100000"/>
              <a:buChar char="•"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Standby draw (3.8–12 mW Eco target)</a:t>
            </a:r>
            <a:endParaRPr lang="en-US" sz="1200" dirty="0"/>
          </a:p>
          <a:p>
            <a:pPr marL="228600" indent="-228600">
              <a:lnSpc>
                <a:spcPts val="1680"/>
              </a:lnSpc>
              <a:spcAft>
                <a:spcPts val="480"/>
              </a:spcAft>
              <a:buSzPct val="100000"/>
              <a:buChar char="•"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Capture rate (~0.025 Wh per capture, modelled)</a:t>
            </a:r>
            <a:endParaRPr lang="en-US" sz="1200" dirty="0"/>
          </a:p>
          <a:p>
            <a:pPr marL="228600" indent="-228600">
              <a:lnSpc>
                <a:spcPts val="1680"/>
              </a:lnSpc>
              <a:spcAft>
                <a:spcPts val="480"/>
              </a:spcAft>
              <a:buSzPct val="100000"/>
              <a:buChar char="•"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Usable capacity and cold derating</a:t>
            </a:r>
            <a:endParaRPr lang="en-US" sz="1200" dirty="0"/>
          </a:p>
          <a:p>
            <a:pPr marL="228600" indent="-228600">
              <a:lnSpc>
                <a:spcPts val="1680"/>
              </a:lnSpc>
              <a:spcAft>
                <a:spcPts val="480"/>
              </a:spcAft>
              <a:buSzPct val="100000"/>
              <a:buChar char="•"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Self-discharge over months</a:t>
            </a:r>
            <a:endParaRPr lang="en-US" sz="1200" dirty="0"/>
          </a:p>
          <a:p>
            <a:pPr marL="228600" indent="-228600">
              <a:lnSpc>
                <a:spcPts val="1680"/>
              </a:lnSpc>
              <a:spcAft>
                <a:spcPts val="480"/>
              </a:spcAft>
              <a:buSzPct val="100000"/>
              <a:buChar char="•"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High-traffic LiFePO4 runtime depends on winter recharge profile</a:t>
            </a:r>
            <a:endParaRPr lang="en-US" sz="1200" dirty="0"/>
          </a:p>
          <a:p>
            <a:pPr marL="228600" indent="-228600">
              <a:lnSpc>
                <a:spcPts val="1680"/>
              </a:lnSpc>
              <a:spcAft>
                <a:spcPts val="480"/>
              </a:spcAft>
              <a:buSzPct val="100000"/>
              <a:buChar char="•"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Battery/BMS cold-charge limits apply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777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2"/>
              </a:lnSpc>
              <a:buNone/>
            </a:pPr>
            <a:r>
              <a:rPr lang="en-US" sz="2552" b="1" spc="-77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BOM Tiers: A Field Node Plus Fiber Costs About $600; the Radio Relay Is a Separate $1,342</a:t>
            </a:r>
            <a:endParaRPr lang="en-US" sz="2552" dirty="0"/>
          </a:p>
        </p:txBody>
      </p:sp>
      <p:sp>
        <p:nvSpPr>
          <p:cNvPr id="3" name="Text 1"/>
          <p:cNvSpPr/>
          <p:nvPr/>
        </p:nvSpPr>
        <p:spPr>
          <a:xfrm>
            <a:off x="454596" y="1382167"/>
            <a:ext cx="4793084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sz="116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BOM snapshot (US$) — not a current quote</a:t>
            </a:r>
            <a:endParaRPr lang="en-US" sz="116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4596" y="1751633"/>
          <a:ext cx="4793084" cy="914400"/>
        </p:xfrm>
        <a:graphic>
          <a:graphicData uri="http://schemas.openxmlformats.org/drawingml/2006/table">
            <a:tbl>
              <a:tblPr/>
              <a:tblGrid>
                <a:gridCol w="2396505"/>
                <a:gridCol w="239657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b="1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b="1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bench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233.37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 + diode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402.67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Weatherproof field node only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497.25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 + 30 m fiber + cabin RX + cables/adapters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598.20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D relay TX+RX pair (separate, not included above)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4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1,341.94</a:t>
                      </a:r>
                      <a:endParaRPr lang="en-US" sz="10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542136" y="1455762"/>
            <a:ext cx="3147268" cy="215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ts val="1624"/>
              </a:lnSpc>
              <a:spcAft>
                <a:spcPts val="464"/>
              </a:spcAft>
              <a:buSzPct val="100000"/>
              <a:buChar char="•"/>
            </a:pPr>
            <a:r>
              <a:rPr lang="en-US" sz="116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$598.20</a:t>
            </a:r>
            <a:pPr indent="0" marL="0">
              <a:lnSpc>
                <a:spcPts val="1624"/>
              </a:lnSpc>
              <a:spcAft>
                <a:spcPts val="464"/>
              </a:spcAft>
              <a:buNone/>
            </a:pPr>
            <a:r>
              <a:rPr lang="en-US" sz="116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covers camera + 30 m fiber + cabin RX + listed cables and adapters. It </a:t>
            </a:r>
            <a:pPr indent="0" marL="0">
              <a:lnSpc>
                <a:spcPts val="1624"/>
              </a:lnSpc>
              <a:spcAft>
                <a:spcPts val="464"/>
              </a:spcAft>
              <a:buNone/>
            </a:pPr>
            <a:r>
              <a:rPr lang="en-US" sz="116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excludes</a:t>
            </a:r>
            <a:pPr indent="0" marL="0">
              <a:lnSpc>
                <a:spcPts val="1624"/>
              </a:lnSpc>
              <a:spcAft>
                <a:spcPts val="464"/>
              </a:spcAft>
              <a:buNone/>
            </a:pPr>
            <a:r>
              <a:rPr lang="en-US" sz="116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relay</a:t>
            </a:r>
            <a:endParaRPr lang="en-US" sz="1160" dirty="0"/>
          </a:p>
          <a:p>
            <a:pPr marL="228600" indent="-228600">
              <a:lnSpc>
                <a:spcPts val="1624"/>
              </a:lnSpc>
              <a:spcAft>
                <a:spcPts val="464"/>
              </a:spcAft>
              <a:buSzPct val="100000"/>
              <a:buChar char="•"/>
            </a:pPr>
            <a:r>
              <a:rPr lang="en-US" sz="116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$1,341.94</a:t>
            </a:r>
            <a:pPr indent="0" marL="0">
              <a:lnSpc>
                <a:spcPts val="1624"/>
              </a:lnSpc>
              <a:spcAft>
                <a:spcPts val="464"/>
              </a:spcAft>
              <a:buNone/>
            </a:pPr>
            <a:r>
              <a:rPr lang="en-US" sz="116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is the Build D TX+RX parts subtotal, </a:t>
            </a:r>
            <a:pPr indent="0" marL="0">
              <a:lnSpc>
                <a:spcPts val="1624"/>
              </a:lnSpc>
              <a:spcAft>
                <a:spcPts val="464"/>
              </a:spcAft>
              <a:buNone/>
            </a:pPr>
            <a:r>
              <a:rPr lang="en-US" sz="116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separate</a:t>
            </a:r>
            <a:endParaRPr lang="en-US" sz="1160" dirty="0"/>
          </a:p>
          <a:p>
            <a:pPr marL="228600" indent="-228600">
              <a:lnSpc>
                <a:spcPts val="1624"/>
              </a:lnSpc>
              <a:spcAft>
                <a:spcPts val="464"/>
              </a:spcAft>
              <a:buSzPct val="100000"/>
              <a:buChar char="•"/>
            </a:pPr>
            <a:r>
              <a:rPr lang="en-US" sz="116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Labor, shipping, taxes, host equipment and optional items may come on top</a:t>
            </a:r>
            <a:endParaRPr lang="en-US" sz="1160" dirty="0"/>
          </a:p>
          <a:p>
            <a:pPr marL="228600" indent="-228600">
              <a:lnSpc>
                <a:spcPts val="1624"/>
              </a:lnSpc>
              <a:spcAft>
                <a:spcPts val="464"/>
              </a:spcAft>
              <a:buSzPct val="100000"/>
              <a:buChar char="•"/>
            </a:pPr>
            <a:r>
              <a:rPr lang="en-US" sz="116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Snapshot prices, not latest quotes</a:t>
            </a:r>
            <a:endParaRPr lang="en-US" sz="116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402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68"/>
              </a:lnSpc>
              <a:buNone/>
            </a:pPr>
            <a:r>
              <a:rPr lang="en-US" sz="2640" b="1" spc="-7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Map: Who Runs What, Where</a:t>
            </a:r>
            <a:endParaRPr lang="en-US" sz="2640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530" y="1021482"/>
            <a:ext cx="8362939" cy="354791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6"/>
              </a:lnSpc>
              <a:buNone/>
            </a:pPr>
            <a:r>
              <a:rPr lang="en-US" sz="1672" b="1" spc="-50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Validation Roadmap: Bench Work Reported; Field Evidence Still to Come</a:t>
            </a:r>
            <a:endParaRPr lang="en-US" sz="1672" dirty="0"/>
          </a:p>
        </p:txBody>
      </p:sp>
      <p:pic>
        <p:nvPicPr>
          <p:cNvPr id="3" name="Image 0" descr="Slide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86" y="970359"/>
            <a:ext cx="4947767" cy="3319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59475" y="808434"/>
            <a:ext cx="2555304" cy="13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Reported bench build (project photo)</a:t>
            </a:r>
            <a:endParaRPr lang="en-US" sz="760" dirty="0"/>
          </a:p>
        </p:txBody>
      </p:sp>
      <p:pic>
        <p:nvPicPr>
          <p:cNvPr id="5" name="Image 1" descr="Slide illust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495" y="1068363"/>
            <a:ext cx="2555264" cy="33068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59475" y="4461495"/>
            <a:ext cx="2555304" cy="13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Stage 2 powered bench system, Build &amp; Field Guide p.9</a:t>
            </a:r>
            <a:endParaRPr lang="en-US" sz="76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382000" cy="402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68"/>
              </a:lnSpc>
              <a:buNone/>
            </a:pPr>
            <a:r>
              <a:rPr lang="en-US" sz="2640" b="1" spc="-79" kern="0" dirty="0">
                <a:solidFill>
                  <a:srgbClr val="1228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Map and Open Questions</a:t>
            </a:r>
            <a:endParaRPr lang="en-US" sz="2640" dirty="0"/>
          </a:p>
        </p:txBody>
      </p:sp>
      <p:sp>
        <p:nvSpPr>
          <p:cNvPr id="3" name="Text 1"/>
          <p:cNvSpPr/>
          <p:nvPr/>
        </p:nvSpPr>
        <p:spPr>
          <a:xfrm>
            <a:off x="457200" y="1011957"/>
            <a:ext cx="3962400" cy="36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Sources (in order of precedence)</a:t>
            </a:r>
            <a:endParaRPr lang="en-US" sz="1200" dirty="0"/>
          </a:p>
          <a:p>
            <a:pPr marL="228600" indent="-228600">
              <a:lnSpc>
                <a:spcPts val="1680"/>
              </a:lnSpc>
              <a:spcBef>
                <a:spcPts val="1080"/>
              </a:spcBef>
              <a:spcAft>
                <a:spcPts val="480"/>
              </a:spcAft>
              <a:buSzPct val="100000"/>
              <a:buChar char="•"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root README, </a:t>
            </a:r>
            <a:pPr indent="0" marL="0">
              <a:lnSpc>
                <a:spcPts val="1680"/>
              </a:lnSpc>
              <a:spcBef>
                <a:spcPts val="1080"/>
              </a:spcBef>
              <a:spcAft>
                <a:spcPts val="480"/>
              </a:spcAft>
              <a:buNone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pi-diode-trailcam</a:t>
            </a:r>
            <a:pPr indent="0" marL="0">
              <a:lnSpc>
                <a:spcPts val="1680"/>
              </a:lnSpc>
              <a:spcBef>
                <a:spcPts val="1080"/>
              </a:spcBef>
              <a:spcAft>
                <a:spcPts val="480"/>
              </a:spcAft>
              <a:buNone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README, </a:t>
            </a:r>
            <a:pPr indent="0" marL="0">
              <a:lnSpc>
                <a:spcPts val="1680"/>
              </a:lnSpc>
              <a:spcBef>
                <a:spcPts val="1080"/>
              </a:spcBef>
              <a:spcAft>
                <a:spcPts val="480"/>
              </a:spcAft>
              <a:buNone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sky-diode-relay</a:t>
            </a:r>
            <a:pPr indent="0" marL="0">
              <a:lnSpc>
                <a:spcPts val="1680"/>
              </a:lnSpc>
              <a:spcBef>
                <a:spcPts val="1080"/>
              </a:spcBef>
              <a:spcAft>
                <a:spcPts val="480"/>
              </a:spcAft>
              <a:buNone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README and relay field-readiness guide (docs/FIELD_READINESS_AND_VALIDATION_GUIDE.md). </a:t>
            </a:r>
            <a:pPr indent="0" marL="0">
              <a:lnSpc>
                <a:spcPts val="1680"/>
              </a:lnSpc>
              <a:spcBef>
                <a:spcPts val="1080"/>
              </a:spcBef>
              <a:spcAft>
                <a:spcPts val="480"/>
              </a:spcAft>
              <a:buNone/>
            </a:pPr>
            <a:r>
              <a:rPr lang="en-US" sz="120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These govern</a:t>
            </a:r>
            <a:endParaRPr lang="en-US" sz="1200" dirty="0"/>
          </a:p>
          <a:p>
            <a:pPr marL="228600" indent="-228600">
              <a:lnSpc>
                <a:spcPts val="1680"/>
              </a:lnSpc>
              <a:spcAft>
                <a:spcPts val="480"/>
              </a:spcAft>
              <a:buSzPct val="100000"/>
              <a:buChar char="•"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Executive Overview PDF (6 pp.): architecture, zones, Build D illustrations</a:t>
            </a:r>
            <a:endParaRPr lang="en-US" sz="1200" dirty="0"/>
          </a:p>
          <a:p>
            <a:pPr marL="228600" indent="-228600">
              <a:lnSpc>
                <a:spcPts val="1680"/>
              </a:lnSpc>
              <a:spcAft>
                <a:spcPts val="480"/>
              </a:spcAft>
              <a:buSzPct val="100000"/>
              <a:buChar char="•"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&amp; Field Guide PDF (55 pp.): 72-photo Stage 1–3 bench log, wiring, diode topology, collector commands</a:t>
            </a:r>
            <a:endParaRPr lang="en-US" sz="1200" dirty="0"/>
          </a:p>
          <a:p>
            <a:pPr algn="l" indent="0" marL="0">
              <a:lnSpc>
                <a:spcPts val="1680"/>
              </a:lnSpc>
              <a:spcBef>
                <a:spcPts val="240"/>
              </a:spcBef>
              <a:buNone/>
            </a:pPr>
            <a:r>
              <a:rPr lang="en-US" sz="120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basis</a:t>
            </a:r>
            <a:endParaRPr lang="en-US" sz="1200" dirty="0"/>
          </a:p>
          <a:p>
            <a:pPr algn="l" indent="0" marL="0">
              <a:lnSpc>
                <a:spcPts val="1680"/>
              </a:lnSpc>
              <a:spcBef>
                <a:spcPts val="480"/>
              </a:spcBef>
              <a:buNone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Repository README and PDF manuals govern this deck; performance figures remain design projections or research targets where marked.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24400" y="1011957"/>
            <a:ext cx="3962400" cy="3276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questions</a:t>
            </a:r>
            <a:endParaRPr lang="en-US" sz="1200" dirty="0"/>
          </a:p>
          <a:p>
            <a:pPr marL="228600" indent="-228600">
              <a:lnSpc>
                <a:spcPts val="1680"/>
              </a:lnSpc>
              <a:spcBef>
                <a:spcPts val="1080"/>
              </a:spcBef>
              <a:spcAft>
                <a:spcPts val="480"/>
              </a:spcAft>
              <a:buSzPct val="100000"/>
              <a:buChar char="•"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the splitter-loop link stable over real fiber lengths?</a:t>
            </a:r>
            <a:endParaRPr lang="en-US" sz="1200" dirty="0"/>
          </a:p>
          <a:p>
            <a:pPr marL="228600" indent="-228600">
              <a:lnSpc>
                <a:spcPts val="1680"/>
              </a:lnSpc>
              <a:spcAft>
                <a:spcPts val="480"/>
              </a:spcAft>
              <a:buSzPct val="100000"/>
              <a:buChar char="•"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IP rating does the sealed pod actually achieve?</a:t>
            </a:r>
            <a:endParaRPr lang="en-US" sz="1200" dirty="0"/>
          </a:p>
          <a:p>
            <a:pPr marL="228600" indent="-228600">
              <a:lnSpc>
                <a:spcPts val="1680"/>
              </a:lnSpc>
              <a:spcAft>
                <a:spcPts val="480"/>
              </a:spcAft>
              <a:buSzPct val="100000"/>
              <a:buChar char="•"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are the vault temperatures by season and site?</a:t>
            </a:r>
            <a:endParaRPr lang="en-US" sz="1200" dirty="0"/>
          </a:p>
          <a:p>
            <a:pPr marL="228600" indent="-228600">
              <a:lnSpc>
                <a:spcPts val="1680"/>
              </a:lnSpc>
              <a:spcAft>
                <a:spcPts val="480"/>
              </a:spcAft>
              <a:buSzPct val="100000"/>
              <a:buChar char="•"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the magnetometer false-trigger and miss rate per site?</a:t>
            </a:r>
            <a:endParaRPr lang="en-US" sz="1200" dirty="0"/>
          </a:p>
          <a:p>
            <a:pPr marL="228600" indent="-228600">
              <a:lnSpc>
                <a:spcPts val="1680"/>
              </a:lnSpc>
              <a:spcAft>
                <a:spcPts val="480"/>
              </a:spcAft>
              <a:buSzPct val="100000"/>
              <a:buChar char="•"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relay throughput and latency can be measured, by season?</a:t>
            </a:r>
            <a:endParaRPr lang="en-US" sz="1200" dirty="0"/>
          </a:p>
          <a:p>
            <a:pPr marL="228600" indent="-228600">
              <a:lnSpc>
                <a:spcPts val="1680"/>
              </a:lnSpc>
              <a:spcAft>
                <a:spcPts val="480"/>
              </a:spcAft>
              <a:buSzPct val="100000"/>
              <a:buChar char="•"/>
            </a:pPr>
            <a:r>
              <a:rPr lang="en-US" sz="1200" spc="-11" kern="0" dirty="0">
                <a:solidFill>
                  <a:srgbClr val="5E666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authorization path applies to each RF mode?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Arctic Trail Cam &amp; Message Relay System</dc:title>
  <dc:subject>Arctic Trail Cam &amp; Message Relay System</dc:subject>
  <dc:creator>arctic-trail</dc:creator>
  <cp:lastModifiedBy>arctic-trail</cp:lastModifiedBy>
  <cp:revision>1</cp:revision>
  <dcterms:created xsi:type="dcterms:W3CDTF">2026-10-20T00:00:00Z</dcterms:created>
  <dcterms:modified xsi:type="dcterms:W3CDTF">2026-10-20T00:00:00Z</dcterms:modified>
</cp:coreProperties>
</file>