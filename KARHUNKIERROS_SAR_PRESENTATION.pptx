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simulated incidents</c:v>
                </c:pt>
              </c:strCache>
            </c:strRef>
          </c:tx>
          <c:spPr>
            <a:solidFill>
              <a:srgbClr val="9CC9E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9CC9E6"/>
              </a:solidFill>
              <a:effectLst/>
            </c:spPr>
          </c:dPt>
          <c:dPt>
            <c:idx val="1"/>
            <c:invertIfNegative val="0"/>
            <c:bubble3D val="0"/>
            <c:spPr>
              <a:solidFill>
                <a:srgbClr val="E8590C"/>
              </a:solidFill>
              <a:effectLst/>
            </c:spPr>
          </c:dPt>
          <c:cat>
            <c:multiLvlStrRef>
              <c:f>Sheet1!$A$2:$A$3</c:f>
              <c:multiLvlStrCache>
                <c:ptCount val="2"/>
                <c:lvl>
                  <c:pt idx="0">
                    <c:v>2 nests / 1 pack</c:v>
                  </c:pt>
                  <c:pt idx="1">
                    <c:v>4 nests / 3 packs</c:v>
                  </c:pt>
                </c:lvl>
              </c:multiLvlStrCache>
            </c:multiLvlStrRef>
          </c:cat>
          <c:val>
            <c:numRef>
              <c:f>Sheet1!$B$2:$B$3</c:f>
              <c:numCache>
                <c:formatCode>General</c:formatCode>
                <c:ptCount val="2"/>
                <c:pt idx="0">
                  <c:v>59.6</c:v>
                </c:pt>
                <c:pt idx="1">
                  <c:v>100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6"/>
        <c:overlap val="-22"/>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EUR</c:v>
                </c:pt>
              </c:strCache>
            </c:strRef>
          </c:tx>
          <c:spPr>
            <a:solidFill>
              <a:srgbClr val="E8590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Core COTS</c:v>
                  </c:pt>
                  <c:pt idx="1">
                    <c:v>Allied Tier-1</c:v>
                  </c:pt>
                  <c:pt idx="2">
                    <c:v>De-risked supply</c:v>
                  </c:pt>
                  <c:pt idx="3">
                    <c:v>Sovereign European</c:v>
                  </c:pt>
                </c:lvl>
              </c:multiLvlStrCache>
            </c:multiLvlStrRef>
          </c:cat>
          <c:val>
            <c:numRef>
              <c:f>Sheet1!$B$2:$B$5</c:f>
              <c:numCache>
                <c:formatCode>General</c:formatCode>
                <c:ptCount val="4"/>
                <c:pt idx="0">
                  <c:v>1329</c:v>
                </c:pt>
                <c:pt idx="1">
                  <c:v>1770</c:v>
                </c:pt>
                <c:pt idx="2">
                  <c:v>2126.4</c:v>
                </c:pt>
                <c:pt idx="3">
                  <c:v>2965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6"/>
        <c:overlap val="-22"/>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Pr>
        <a:solidFill>
          <a:srgbClr val="F8F9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6-1.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922809"/>
            <a:ext cx="2975521" cy="3236863"/>
          </a:xfrm>
          <a:prstGeom prst="rect">
            <a:avLst/>
          </a:prstGeom>
          <a:noFill/>
          <a:ln/>
        </p:spPr>
        <p:txBody>
          <a:bodyPr wrap="square" lIns="0" tIns="0" rIns="0" bIns="0" rtlCol="0" anchor="t"/>
          <a:lstStyle/>
          <a:p>
            <a:pPr algn="l" indent="0" marL="0">
              <a:lnSpc>
                <a:spcPts val="3168"/>
              </a:lnSpc>
              <a:buNone/>
            </a:pPr>
            <a:r>
              <a:rPr lang="en-US" sz="2640" b="1" spc="-79" kern="0" dirty="0">
                <a:solidFill>
                  <a:srgbClr val="FFFFFF"/>
                </a:solidFill>
                <a:latin typeface="Poppins" pitchFamily="34" charset="0"/>
                <a:ea typeface="Poppins" pitchFamily="34" charset="-122"/>
                <a:cs typeface="Poppins" pitchFamily="34" charset="-120"/>
              </a:rPr>
              <a:t>Karhunkierros SAR</a:t>
            </a:r>
            <a:endParaRPr lang="en-US" sz="2640" dirty="0"/>
          </a:p>
          <a:p>
            <a:pPr algn="l" indent="0" marL="0">
              <a:lnSpc>
                <a:spcPts val="2304"/>
              </a:lnSpc>
              <a:spcBef>
                <a:spcPts val="600"/>
              </a:spcBef>
              <a:buNone/>
            </a:pPr>
            <a:r>
              <a:rPr lang="en-US" sz="1920" b="1" spc="-38" kern="0" dirty="0">
                <a:solidFill>
                  <a:srgbClr val="FFFFFF"/>
                </a:solidFill>
                <a:latin typeface="Poppins" pitchFamily="34" charset="0"/>
                <a:ea typeface="Poppins" pitchFamily="34" charset="-122"/>
                <a:cs typeface="Poppins" pitchFamily="34" charset="-120"/>
              </a:rPr>
              <a:t>The Complete Wilderness Rescue System</a:t>
            </a:r>
            <a:endParaRPr lang="en-US" sz="2640" dirty="0"/>
          </a:p>
          <a:p>
            <a:pPr algn="l" indent="0" marL="0">
              <a:lnSpc>
                <a:spcPts val="1680"/>
              </a:lnSpc>
              <a:spcBef>
                <a:spcPts val="600"/>
              </a:spcBef>
              <a:buNone/>
            </a:pPr>
            <a:r>
              <a:rPr lang="en-US" sz="1200" spc="-11" kern="0" dirty="0">
                <a:solidFill>
                  <a:srgbClr val="FFFFFF"/>
                </a:solidFill>
                <a:latin typeface="Poppins" pitchFamily="34" charset="0"/>
                <a:ea typeface="Poppins" pitchFamily="34" charset="-122"/>
                <a:cs typeface="Poppins" pitchFamily="34" charset="-120"/>
              </a:rPr>
              <a:t>Civilian search and rescue for Finland's roadless wilderness</a:t>
            </a:r>
            <a:endParaRPr lang="en-US" sz="2640" dirty="0"/>
          </a:p>
          <a:p>
            <a:pPr algn="l" indent="0" marL="0">
              <a:lnSpc>
                <a:spcPts val="1680"/>
              </a:lnSpc>
              <a:spcBef>
                <a:spcPts val="480"/>
              </a:spcBef>
              <a:buNone/>
            </a:pPr>
            <a:r>
              <a:rPr lang="en-US" sz="1200" b="1" spc="-11" kern="0" dirty="0">
                <a:solidFill>
                  <a:srgbClr val="FFFFFF"/>
                </a:solidFill>
                <a:latin typeface="Poppins" pitchFamily="34" charset="0"/>
                <a:ea typeface="Poppins" pitchFamily="34" charset="-122"/>
                <a:cs typeface="Poppins" pitchFamily="34" charset="-120"/>
              </a:rPr>
              <a:t>For technical partners and rescue stakeholders</a:t>
            </a:r>
            <a:pPr algn="l" indent="0" marL="0">
              <a:lnSpc>
                <a:spcPts val="1680"/>
              </a:lnSpc>
              <a:spcBef>
                <a:spcPts val="480"/>
              </a:spcBef>
              <a:buNone/>
            </a:pPr>
            <a:r>
              <a:rPr lang="en-US" sz="1200" spc="-11" kern="0" dirty="0">
                <a:solidFill>
                  <a:srgbClr val="FFFFFF"/>
                </a:solidFill>
                <a:latin typeface="Poppins" pitchFamily="34" charset="0"/>
                <a:ea typeface="Poppins" pitchFamily="34" charset="-122"/>
                <a:cs typeface="Poppins" pitchFamily="34" charset="-120"/>
              </a:rPr>
              <a:t>20 October 2026</a:t>
            </a:r>
            <a:endParaRPr lang="en-US" sz="2640" dirty="0"/>
          </a:p>
          <a:p>
            <a:pPr algn="l" indent="0" marL="0">
              <a:lnSpc>
                <a:spcPts val="1680"/>
              </a:lnSpc>
              <a:spcBef>
                <a:spcPts val="480"/>
              </a:spcBef>
              <a:buNone/>
            </a:pPr>
            <a:r>
              <a:rPr lang="en-US" sz="1200" i="1" spc="-11" kern="0" dirty="0">
                <a:solidFill>
                  <a:srgbClr val="FFFFFF"/>
                </a:solidFill>
                <a:latin typeface="Poppins" pitchFamily="34" charset="0"/>
                <a:ea typeface="Poppins" pitchFamily="34" charset="-122"/>
                <a:cs typeface="Poppins" pitchFamily="34" charset="-120"/>
              </a:rPr>
              <a:t>Open-source design reference. Not a certified aircraft or rescue service.</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3747078" y="731118"/>
            <a:ext cx="4930164" cy="36811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271537"/>
          </a:xfrm>
          <a:prstGeom prst="rect">
            <a:avLst/>
          </a:prstGeom>
          <a:noFill/>
          <a:ln/>
        </p:spPr>
        <p:txBody>
          <a:bodyPr wrap="square" lIns="0" tIns="0" rIns="0" bIns="0" rtlCol="0" anchor="t"/>
          <a:lstStyle/>
          <a:p>
            <a:pPr algn="l" indent="0" marL="0">
              <a:lnSpc>
                <a:spcPts val="2138"/>
              </a:lnSpc>
              <a:buNone/>
            </a:pPr>
            <a:r>
              <a:rPr lang="en-US" sz="1782" b="1" spc="-53" kern="0" dirty="0">
                <a:solidFill>
                  <a:srgbClr val="12284C"/>
                </a:solidFill>
                <a:latin typeface="Poppins" pitchFamily="34" charset="0"/>
                <a:ea typeface="Poppins" pitchFamily="34" charset="-122"/>
                <a:cs typeface="Poppins" pitchFamily="34" charset="-120"/>
              </a:rPr>
              <a:t>The Problem: Help Can Be Hours Away, Shelter Is Often Closer</a:t>
            </a:r>
            <a:endParaRPr lang="en-US" sz="1782" dirty="0"/>
          </a:p>
        </p:txBody>
      </p:sp>
      <p:pic>
        <p:nvPicPr>
          <p:cNvPr id="3" name="Image 0" descr="Karhunkierros SAR Technical Illustration">    </p:cNvPr>
          <p:cNvPicPr>
            <a:picLocks noChangeAspect="1"/>
          </p:cNvPicPr>
          <p:nvPr/>
        </p:nvPicPr>
        <p:blipFill>
          <a:blip r:embed="rId1"/>
          <a:stretch>
            <a:fillRect/>
          </a:stretch>
        </p:blipFill>
        <p:spPr>
          <a:xfrm>
            <a:off x="559054" y="1044922"/>
            <a:ext cx="4445609" cy="3319388"/>
          </a:xfrm>
          <a:prstGeom prst="rect">
            <a:avLst/>
          </a:prstGeom>
        </p:spPr>
      </p:pic>
      <p:sp>
        <p:nvSpPr>
          <p:cNvPr id="4" name="Shape 1"/>
          <p:cNvSpPr/>
          <p:nvPr/>
        </p:nvSpPr>
        <p:spPr>
          <a:xfrm>
            <a:off x="5336977" y="882997"/>
            <a:ext cx="3374603" cy="768772"/>
          </a:xfrm>
          <a:prstGeom prst="rect">
            <a:avLst/>
          </a:prstGeom>
          <a:solidFill>
            <a:srgbClr val="FFFFFF"/>
          </a:solidFill>
          <a:ln w="9525">
            <a:solidFill>
              <a:srgbClr val="E8E8E8"/>
            </a:solidFill>
            <a:prstDash val="solid"/>
          </a:ln>
        </p:spPr>
      </p:sp>
      <p:sp>
        <p:nvSpPr>
          <p:cNvPr id="5" name="Shape 2"/>
          <p:cNvSpPr/>
          <p:nvPr/>
        </p:nvSpPr>
        <p:spPr>
          <a:xfrm>
            <a:off x="5336977" y="882997"/>
            <a:ext cx="38100" cy="768772"/>
          </a:xfrm>
          <a:prstGeom prst="rect">
            <a:avLst/>
          </a:prstGeom>
          <a:solidFill>
            <a:srgbClr val="F59E0B"/>
          </a:solidFill>
          <a:ln w="12700">
            <a:solidFill>
              <a:srgbClr val="333333"/>
            </a:solidFill>
            <a:prstDash val="solid"/>
          </a:ln>
        </p:spPr>
      </p:sp>
      <p:sp>
        <p:nvSpPr>
          <p:cNvPr id="6" name="Text 3"/>
          <p:cNvSpPr/>
          <p:nvPr/>
        </p:nvSpPr>
        <p:spPr>
          <a:xfrm>
            <a:off x="5426497" y="943942"/>
            <a:ext cx="3224138" cy="344388"/>
          </a:xfrm>
          <a:prstGeom prst="rect">
            <a:avLst/>
          </a:prstGeom>
          <a:noFill/>
          <a:ln/>
        </p:spPr>
        <p:txBody>
          <a:bodyPr wrap="square" lIns="0" tIns="0" rIns="0" bIns="0" rtlCol="0" anchor="t"/>
          <a:lstStyle/>
          <a:p>
            <a:pPr algn="ctr" indent="0" marL="0">
              <a:buNone/>
            </a:pPr>
            <a:r>
              <a:rPr lang="en-US" sz="1920" b="1" spc="-38" kern="0" dirty="0">
                <a:solidFill>
                  <a:srgbClr val="1A1A1A"/>
                </a:solidFill>
                <a:latin typeface="Poppins" pitchFamily="34" charset="0"/>
                <a:ea typeface="Poppins" pitchFamily="34" charset="-122"/>
                <a:cs typeface="Poppins" pitchFamily="34" charset="-120"/>
              </a:rPr>
              <a:t>8–25 km</a:t>
            </a:r>
            <a:endParaRPr lang="en-US" sz="1920" dirty="0"/>
          </a:p>
        </p:txBody>
      </p:sp>
      <p:sp>
        <p:nvSpPr>
          <p:cNvPr id="7" name="Text 4"/>
          <p:cNvSpPr/>
          <p:nvPr/>
        </p:nvSpPr>
        <p:spPr>
          <a:xfrm>
            <a:off x="5426497" y="1375916"/>
            <a:ext cx="3224138" cy="214908"/>
          </a:xfrm>
          <a:prstGeom prst="rect">
            <a:avLst/>
          </a:prstGeom>
          <a:noFill/>
          <a:ln/>
        </p:spPr>
        <p:txBody>
          <a:bodyPr wrap="square" lIns="0" tIns="0" rIns="0" bIns="0" rtlCol="0" anchor="t"/>
          <a:lstStyle/>
          <a:p>
            <a:pPr algn="ctr" indent="0" marL="0">
              <a:buNone/>
            </a:pPr>
            <a:r>
              <a:rPr lang="en-US" sz="840" spc="38" kern="0" dirty="0">
                <a:solidFill>
                  <a:srgbClr val="6B7280"/>
                </a:solidFill>
                <a:latin typeface="Poppins" pitchFamily="34" charset="0"/>
                <a:ea typeface="Poppins" pitchFamily="34" charset="-122"/>
                <a:cs typeface="Poppins" pitchFamily="34" charset="-120"/>
              </a:rPr>
              <a:t>ILLUSTRATIVE DISTANCE, LOST HIKER TO PLOWED ROAD</a:t>
            </a:r>
            <a:endParaRPr lang="en-US" sz="840" dirty="0"/>
          </a:p>
        </p:txBody>
      </p:sp>
      <p:sp>
        <p:nvSpPr>
          <p:cNvPr id="8" name="Shape 5"/>
          <p:cNvSpPr/>
          <p:nvPr/>
        </p:nvSpPr>
        <p:spPr>
          <a:xfrm>
            <a:off x="5336977" y="1766069"/>
            <a:ext cx="3374603" cy="768772"/>
          </a:xfrm>
          <a:prstGeom prst="rect">
            <a:avLst/>
          </a:prstGeom>
          <a:solidFill>
            <a:srgbClr val="FFFFFF"/>
          </a:solidFill>
          <a:ln w="9525">
            <a:solidFill>
              <a:srgbClr val="E8E8E8"/>
            </a:solidFill>
            <a:prstDash val="solid"/>
          </a:ln>
        </p:spPr>
      </p:sp>
      <p:sp>
        <p:nvSpPr>
          <p:cNvPr id="9" name="Shape 6"/>
          <p:cNvSpPr/>
          <p:nvPr/>
        </p:nvSpPr>
        <p:spPr>
          <a:xfrm>
            <a:off x="5336977" y="1766069"/>
            <a:ext cx="38100" cy="768772"/>
          </a:xfrm>
          <a:prstGeom prst="rect">
            <a:avLst/>
          </a:prstGeom>
          <a:solidFill>
            <a:srgbClr val="340F72"/>
          </a:solidFill>
          <a:ln w="12700">
            <a:solidFill>
              <a:srgbClr val="333333"/>
            </a:solidFill>
            <a:prstDash val="solid"/>
          </a:ln>
        </p:spPr>
      </p:sp>
      <p:sp>
        <p:nvSpPr>
          <p:cNvPr id="10" name="Text 7"/>
          <p:cNvSpPr/>
          <p:nvPr/>
        </p:nvSpPr>
        <p:spPr>
          <a:xfrm>
            <a:off x="5426497" y="1827014"/>
            <a:ext cx="3224138" cy="344388"/>
          </a:xfrm>
          <a:prstGeom prst="rect">
            <a:avLst/>
          </a:prstGeom>
          <a:noFill/>
          <a:ln/>
        </p:spPr>
        <p:txBody>
          <a:bodyPr wrap="square" lIns="0" tIns="0" rIns="0" bIns="0" rtlCol="0" anchor="t"/>
          <a:lstStyle/>
          <a:p>
            <a:pPr algn="ctr" indent="0" marL="0">
              <a:buNone/>
            </a:pPr>
            <a:r>
              <a:rPr lang="en-US" sz="1920" b="1" spc="-38" kern="0" dirty="0">
                <a:solidFill>
                  <a:srgbClr val="1A1A1A"/>
                </a:solidFill>
                <a:latin typeface="Poppins" pitchFamily="34" charset="0"/>
                <a:ea typeface="Poppins" pitchFamily="34" charset="-122"/>
                <a:cs typeface="Poppins" pitchFamily="34" charset="-120"/>
              </a:rPr>
              <a:t>90–180 min</a:t>
            </a:r>
            <a:endParaRPr lang="en-US" sz="1920" dirty="0"/>
          </a:p>
        </p:txBody>
      </p:sp>
      <p:sp>
        <p:nvSpPr>
          <p:cNvPr id="11" name="Text 8"/>
          <p:cNvSpPr/>
          <p:nvPr/>
        </p:nvSpPr>
        <p:spPr>
          <a:xfrm>
            <a:off x="5426497" y="2258988"/>
            <a:ext cx="3224138" cy="214908"/>
          </a:xfrm>
          <a:prstGeom prst="rect">
            <a:avLst/>
          </a:prstGeom>
          <a:noFill/>
          <a:ln/>
        </p:spPr>
        <p:txBody>
          <a:bodyPr wrap="square" lIns="0" tIns="0" rIns="0" bIns="0" rtlCol="0" anchor="t"/>
          <a:lstStyle/>
          <a:p>
            <a:pPr algn="ctr" indent="0" marL="0">
              <a:buNone/>
            </a:pPr>
            <a:r>
              <a:rPr lang="en-US" sz="840" spc="38" kern="0" dirty="0">
                <a:solidFill>
                  <a:srgbClr val="6B7280"/>
                </a:solidFill>
                <a:latin typeface="Poppins" pitchFamily="34" charset="0"/>
                <a:ea typeface="Poppins" pitchFamily="34" charset="-122"/>
                <a:cs typeface="Poppins" pitchFamily="34" charset="-120"/>
              </a:rPr>
              <a:t>ILLUSTRATIVE SNOWMOBILE OR SKI PATROL ARRIVAL</a:t>
            </a:r>
            <a:endParaRPr lang="en-US" sz="840" dirty="0"/>
          </a:p>
        </p:txBody>
      </p:sp>
      <p:sp>
        <p:nvSpPr>
          <p:cNvPr id="12" name="Shape 9"/>
          <p:cNvSpPr/>
          <p:nvPr/>
        </p:nvSpPr>
        <p:spPr>
          <a:xfrm>
            <a:off x="5336977" y="2649141"/>
            <a:ext cx="3374603" cy="768772"/>
          </a:xfrm>
          <a:prstGeom prst="rect">
            <a:avLst/>
          </a:prstGeom>
          <a:solidFill>
            <a:srgbClr val="FFFFFF"/>
          </a:solidFill>
          <a:ln w="9525">
            <a:solidFill>
              <a:srgbClr val="E8E8E8"/>
            </a:solidFill>
            <a:prstDash val="solid"/>
          </a:ln>
        </p:spPr>
      </p:sp>
      <p:sp>
        <p:nvSpPr>
          <p:cNvPr id="13" name="Shape 10"/>
          <p:cNvSpPr/>
          <p:nvPr/>
        </p:nvSpPr>
        <p:spPr>
          <a:xfrm>
            <a:off x="5336977" y="2649141"/>
            <a:ext cx="38100" cy="768772"/>
          </a:xfrm>
          <a:prstGeom prst="rect">
            <a:avLst/>
          </a:prstGeom>
          <a:solidFill>
            <a:srgbClr val="22C55E"/>
          </a:solidFill>
          <a:ln w="12700">
            <a:solidFill>
              <a:srgbClr val="333333"/>
            </a:solidFill>
            <a:prstDash val="solid"/>
          </a:ln>
        </p:spPr>
      </p:sp>
      <p:sp>
        <p:nvSpPr>
          <p:cNvPr id="14" name="Text 11"/>
          <p:cNvSpPr/>
          <p:nvPr/>
        </p:nvSpPr>
        <p:spPr>
          <a:xfrm>
            <a:off x="5426497" y="2710086"/>
            <a:ext cx="3224138" cy="344388"/>
          </a:xfrm>
          <a:prstGeom prst="rect">
            <a:avLst/>
          </a:prstGeom>
          <a:noFill/>
          <a:ln/>
        </p:spPr>
        <p:txBody>
          <a:bodyPr wrap="square" lIns="0" tIns="0" rIns="0" bIns="0" rtlCol="0" anchor="t"/>
          <a:lstStyle/>
          <a:p>
            <a:pPr algn="ctr" indent="0" marL="0">
              <a:buNone/>
            </a:pPr>
            <a:r>
              <a:rPr lang="en-US" sz="1920" b="1" spc="-38" kern="0" dirty="0">
                <a:solidFill>
                  <a:srgbClr val="1A1A1A"/>
                </a:solidFill>
                <a:latin typeface="Poppins" pitchFamily="34" charset="0"/>
                <a:ea typeface="Poppins" pitchFamily="34" charset="-122"/>
                <a:cs typeface="Poppins" pitchFamily="34" charset="-120"/>
              </a:rPr>
              <a:t>450+</a:t>
            </a:r>
            <a:endParaRPr lang="en-US" sz="1920" dirty="0"/>
          </a:p>
        </p:txBody>
      </p:sp>
      <p:sp>
        <p:nvSpPr>
          <p:cNvPr id="15" name="Text 12"/>
          <p:cNvSpPr/>
          <p:nvPr/>
        </p:nvSpPr>
        <p:spPr>
          <a:xfrm>
            <a:off x="5426497" y="3142059"/>
            <a:ext cx="3224138" cy="214908"/>
          </a:xfrm>
          <a:prstGeom prst="rect">
            <a:avLst/>
          </a:prstGeom>
          <a:noFill/>
          <a:ln/>
        </p:spPr>
        <p:txBody>
          <a:bodyPr wrap="square" lIns="0" tIns="0" rIns="0" bIns="0" rtlCol="0" anchor="t"/>
          <a:lstStyle/>
          <a:p>
            <a:pPr algn="ctr" indent="0" marL="0">
              <a:buNone/>
            </a:pPr>
            <a:r>
              <a:rPr lang="en-US" sz="840" spc="38" kern="0" dirty="0">
                <a:solidFill>
                  <a:srgbClr val="6B7280"/>
                </a:solidFill>
                <a:latin typeface="Poppins" pitchFamily="34" charset="0"/>
                <a:ea typeface="Poppins" pitchFamily="34" charset="-122"/>
                <a:cs typeface="Poppins" pitchFamily="34" charset="-120"/>
              </a:rPr>
              <a:t>WILDERNESS AND DAY HUTS (FACILITIES VARY BY HUT)</a:t>
            </a:r>
            <a:endParaRPr lang="en-US" sz="840" dirty="0"/>
          </a:p>
        </p:txBody>
      </p:sp>
      <p:sp>
        <p:nvSpPr>
          <p:cNvPr id="16" name="Text 13"/>
          <p:cNvSpPr/>
          <p:nvPr/>
        </p:nvSpPr>
        <p:spPr>
          <a:xfrm>
            <a:off x="5336977" y="3532212"/>
            <a:ext cx="3374603" cy="904577"/>
          </a:xfrm>
          <a:prstGeom prst="rect">
            <a:avLst/>
          </a:prstGeom>
          <a:noFill/>
          <a:ln/>
        </p:spPr>
        <p:txBody>
          <a:bodyPr wrap="square" lIns="0" tIns="0" rIns="0" bIns="0" rtlCol="0" anchor="t"/>
          <a:lstStyle/>
          <a:p>
            <a:pPr algn="l" indent="0" marL="0">
              <a:lnSpc>
                <a:spcPts val="1134"/>
              </a:lnSpc>
              <a:buNone/>
            </a:pPr>
            <a:r>
              <a:rPr lang="en-US" sz="810" b="1" spc="-11" kern="0" dirty="0">
                <a:solidFill>
                  <a:srgbClr val="5E666F"/>
                </a:solidFill>
                <a:latin typeface="Poppins" pitchFamily="34" charset="0"/>
                <a:ea typeface="Poppins" pitchFamily="34" charset="-122"/>
                <a:cs typeface="Poppins" pitchFamily="34" charset="-120"/>
              </a:rPr>
              <a:t>Mission:</a:t>
            </a:r>
            <a:pPr algn="l" indent="0" marL="0">
              <a:lnSpc>
                <a:spcPts val="1134"/>
              </a:lnSpc>
              <a:buNone/>
            </a:pPr>
            <a:r>
              <a:rPr lang="en-US" sz="810" spc="-11" kern="0" dirty="0">
                <a:solidFill>
                  <a:srgbClr val="5E666F"/>
                </a:solidFill>
                <a:latin typeface="Poppins" pitchFamily="34" charset="0"/>
                <a:ea typeface="Poppins" pitchFamily="34" charset="-122"/>
                <a:cs typeface="Poppins" pitchFamily="34" charset="-120"/>
              </a:rPr>
              <a:t> find the person fast, keep them warm, and guide them to the nearest hut, or keep watch until the ground team arrives.</a:t>
            </a:r>
            <a:endParaRPr lang="en-US" sz="810" dirty="0"/>
          </a:p>
          <a:p>
            <a:pPr algn="l" indent="0" marL="0">
              <a:lnSpc>
                <a:spcPts val="1134"/>
              </a:lnSpc>
              <a:spcBef>
                <a:spcPts val="323"/>
              </a:spcBef>
              <a:buNone/>
            </a:pPr>
            <a:r>
              <a:rPr lang="en-US" sz="810" i="1" spc="-11" kern="0" dirty="0">
                <a:solidFill>
                  <a:srgbClr val="5E666F"/>
                </a:solidFill>
                <a:latin typeface="Poppins" pitchFamily="34" charset="0"/>
                <a:ea typeface="Poppins" pitchFamily="34" charset="-122"/>
                <a:cs typeface="Poppins" pitchFamily="34" charset="-120"/>
              </a:rPr>
              <a:t>8–25 km and 90–180 min are illustrative planning assumptions from the project packet, not agency statistics. Hut stoves and supplies are not guaranteed at every hut. Drone timings in this deck are design targets.</a:t>
            </a:r>
            <a:endParaRPr lang="en-US" sz="8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75493"/>
          </a:xfrm>
          <a:prstGeom prst="rect">
            <a:avLst/>
          </a:prstGeom>
          <a:noFill/>
          <a:ln/>
        </p:spPr>
        <p:txBody>
          <a:bodyPr wrap="square" lIns="0" tIns="0" rIns="0" bIns="0" rtlCol="0" anchor="t"/>
          <a:lstStyle/>
          <a:p>
            <a:pPr algn="l" indent="0" marL="0">
              <a:lnSpc>
                <a:spcPts val="2957"/>
              </a:lnSpc>
              <a:buNone/>
            </a:pPr>
            <a:r>
              <a:rPr lang="en-US" sz="2464" b="1" spc="-74" kern="0" dirty="0">
                <a:solidFill>
                  <a:srgbClr val="12284C"/>
                </a:solidFill>
                <a:latin typeface="Poppins" pitchFamily="34" charset="0"/>
                <a:ea typeface="Poppins" pitchFamily="34" charset="-122"/>
                <a:cs typeface="Poppins" pitchFamily="34" charset="-120"/>
              </a:rPr>
              <a:t>One System, Eight Parts Working Across the Landscape</a:t>
            </a:r>
            <a:endParaRPr lang="en-US" sz="2464" dirty="0"/>
          </a:p>
        </p:txBody>
      </p:sp>
      <p:pic>
        <p:nvPicPr>
          <p:cNvPr id="3" name="Image 0" descr="Karhunkierros SAR Technical Illustration">    </p:cNvPr>
          <p:cNvPicPr>
            <a:picLocks noChangeAspect="1"/>
          </p:cNvPicPr>
          <p:nvPr/>
        </p:nvPicPr>
        <p:blipFill>
          <a:blip r:embed="rId1"/>
          <a:stretch>
            <a:fillRect/>
          </a:stretch>
        </p:blipFill>
        <p:spPr>
          <a:xfrm>
            <a:off x="390530" y="994618"/>
            <a:ext cx="8362939" cy="354791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402357"/>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The Rescue in Five Stages</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390530" y="1021482"/>
            <a:ext cx="8362939" cy="35479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402357"/>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One Trail Camera, Two Missions</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66747" y="1173882"/>
            <a:ext cx="4354518" cy="3251374"/>
          </a:xfrm>
          <a:prstGeom prst="rect">
            <a:avLst/>
          </a:prstGeom>
        </p:spPr>
      </p:pic>
      <p:sp>
        <p:nvSpPr>
          <p:cNvPr id="4" name="Text 1"/>
          <p:cNvSpPr/>
          <p:nvPr/>
        </p:nvSpPr>
        <p:spPr>
          <a:xfrm>
            <a:off x="5135612" y="1011957"/>
            <a:ext cx="3551188" cy="2849612"/>
          </a:xfrm>
          <a:prstGeom prst="rect">
            <a:avLst/>
          </a:prstGeom>
          <a:noFill/>
          <a:ln/>
        </p:spPr>
        <p:txBody>
          <a:bodyPr wrap="square" lIns="0" tIns="0" rIns="0" bIns="0" rtlCol="0" anchor="t"/>
          <a:lstStyle/>
          <a:p>
            <a:pPr algn="l" indent="0" marL="0">
              <a:lnSpc>
                <a:spcPts val="1680"/>
              </a:lnSpc>
              <a:buNone/>
            </a:pPr>
            <a:r>
              <a:rPr lang="en-US" sz="1200" b="1" spc="-11" kern="0" dirty="0">
                <a:solidFill>
                  <a:srgbClr val="5E666F"/>
                </a:solidFill>
                <a:latin typeface="Poppins" pitchFamily="34" charset="0"/>
                <a:ea typeface="Poppins" pitchFamily="34" charset="-122"/>
                <a:cs typeface="Poppins" pitchFamily="34" charset="-120"/>
              </a:rPr>
              <a:t>Wildlife trails and rescue share one stack</a:t>
            </a:r>
            <a:endParaRPr lang="en-US" sz="1200" dirty="0"/>
          </a:p>
          <a:p>
            <a:pPr marL="228600" indent="-228600">
              <a:lnSpc>
                <a:spcPts val="1680"/>
              </a:lnSpc>
              <a:spcBef>
                <a:spcPts val="1080"/>
              </a:spcBef>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Ground node and collector hub are </a:t>
            </a:r>
            <a:pPr indent="0" marL="0">
              <a:lnSpc>
                <a:spcPts val="1680"/>
              </a:lnSpc>
              <a:spcBef>
                <a:spcPts val="1080"/>
              </a:spcBef>
              <a:spcAft>
                <a:spcPts val="480"/>
              </a:spcAft>
              <a:buNone/>
            </a:pPr>
            <a:r>
              <a:rPr lang="en-US" sz="1200" b="1" spc="-11" kern="0" dirty="0">
                <a:solidFill>
                  <a:srgbClr val="5E666F"/>
                </a:solidFill>
                <a:latin typeface="Poppins" pitchFamily="34" charset="0"/>
                <a:ea typeface="Poppins" pitchFamily="34" charset="-122"/>
                <a:cs typeface="Poppins" pitchFamily="34" charset="-120"/>
              </a:rPr>
              <a:t>100% shared</a:t>
            </a:r>
            <a:pPr indent="0" marL="0">
              <a:lnSpc>
                <a:spcPts val="1680"/>
              </a:lnSpc>
              <a:spcBef>
                <a:spcPts val="1080"/>
              </a:spcBef>
              <a:spcAft>
                <a:spcPts val="480"/>
              </a:spcAft>
              <a:buNone/>
            </a:pPr>
            <a:r>
              <a:rPr lang="en-US" sz="1200" spc="-11" kern="0" dirty="0">
                <a:solidFill>
                  <a:srgbClr val="5E666F"/>
                </a:solidFill>
                <a:latin typeface="Poppins" pitchFamily="34" charset="0"/>
                <a:ea typeface="Poppins" pitchFamily="34" charset="-122"/>
                <a:cs typeface="Poppins" pitchFamily="34" charset="-120"/>
              </a:rPr>
              <a:t> with the arctic-trail-cam project</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Only one trail camera to build and maintain</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SAR logic lives in a separate module and repository</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Off-the-shelf snap-in parts, </a:t>
            </a:r>
            <a:pPr indent="0" marL="0">
              <a:lnSpc>
                <a:spcPts val="1680"/>
              </a:lnSpc>
              <a:spcAft>
                <a:spcPts val="480"/>
              </a:spcAft>
              <a:buNone/>
            </a:pPr>
            <a:r>
              <a:rPr lang="en-US" sz="1200" b="1" spc="-11" kern="0" dirty="0">
                <a:solidFill>
                  <a:srgbClr val="5E666F"/>
                </a:solidFill>
                <a:latin typeface="Poppins" pitchFamily="34" charset="0"/>
                <a:ea typeface="Poppins" pitchFamily="34" charset="-122"/>
                <a:cs typeface="Poppins" pitchFamily="34" charset="-120"/>
              </a:rPr>
              <a:t>no custom circuit boards</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MIT-licensed reference design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402357"/>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Inside the Trail Post</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390530" y="1021482"/>
            <a:ext cx="8362939" cy="35479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804714"/>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Sightings Expire After 48 h Unless an Alert Unlocks Them</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39320" y="1544464"/>
            <a:ext cx="4820138" cy="3599036"/>
          </a:xfrm>
          <a:prstGeom prst="rect">
            <a:avLst/>
          </a:prstGeom>
        </p:spPr>
      </p:pic>
      <p:sp>
        <p:nvSpPr>
          <p:cNvPr id="4" name="Text 1"/>
          <p:cNvSpPr/>
          <p:nvPr/>
        </p:nvSpPr>
        <p:spPr>
          <a:xfrm>
            <a:off x="5544443" y="1412379"/>
            <a:ext cx="3144292" cy="3505795"/>
          </a:xfrm>
          <a:prstGeom prst="rect">
            <a:avLst/>
          </a:prstGeom>
          <a:noFill/>
          <a:ln/>
        </p:spPr>
        <p:txBody>
          <a:bodyPr wrap="square" lIns="0" tIns="0" rIns="0" bIns="0" rtlCol="0" anchor="t"/>
          <a:lstStyle/>
          <a:p>
            <a:pPr algn="l" indent="0" marL="0">
              <a:lnSpc>
                <a:spcPts val="1638"/>
              </a:lnSpc>
              <a:buNone/>
            </a:pPr>
            <a:r>
              <a:rPr lang="en-US" sz="1170" b="1" spc="-11" kern="0" dirty="0">
                <a:solidFill>
                  <a:srgbClr val="5E666F"/>
                </a:solidFill>
                <a:latin typeface="Poppins" pitchFamily="34" charset="0"/>
                <a:ea typeface="Poppins" pitchFamily="34" charset="-122"/>
                <a:cs typeface="Poppins" pitchFamily="34" charset="-120"/>
              </a:rPr>
              <a:t>What is stored</a:t>
            </a:r>
            <a:endParaRPr lang="en-US" sz="1170" dirty="0"/>
          </a:p>
          <a:p>
            <a:pPr marL="228600" indent="-228600">
              <a:lnSpc>
                <a:spcPts val="1638"/>
              </a:lnSpc>
              <a:spcBef>
                <a:spcPts val="1052"/>
              </a:spcBef>
              <a:spcAft>
                <a:spcPts val="468"/>
              </a:spcAft>
              <a:buSzPct val="100000"/>
              <a:buChar char="•"/>
            </a:pPr>
            <a:r>
              <a:rPr lang="en-US" sz="1170" spc="-11" kern="0" dirty="0">
                <a:solidFill>
                  <a:srgbClr val="5E666F"/>
                </a:solidFill>
                <a:latin typeface="Poppins" pitchFamily="34" charset="0"/>
                <a:ea typeface="Poppins" pitchFamily="34" charset="-122"/>
                <a:cs typeface="Poppins" pitchFamily="34" charset="-120"/>
              </a:rPr>
              <a:t>Group size, time, speed, heading, coarse jacket colour</a:t>
            </a:r>
            <a:endParaRPr lang="en-US" sz="1170" dirty="0"/>
          </a:p>
          <a:p>
            <a:pPr marL="228600" indent="-228600">
              <a:lnSpc>
                <a:spcPts val="1638"/>
              </a:lnSpc>
              <a:spcAft>
                <a:spcPts val="468"/>
              </a:spcAft>
              <a:buSzPct val="100000"/>
              <a:buChar char="•"/>
            </a:pPr>
            <a:r>
              <a:rPr lang="en-US" sz="1170" spc="-11" kern="0" dirty="0">
                <a:solidFill>
                  <a:srgbClr val="5E666F"/>
                </a:solidFill>
                <a:latin typeface="Poppins" pitchFamily="34" charset="0"/>
                <a:ea typeface="Poppins" pitchFamily="34" charset="-122"/>
                <a:cs typeface="Poppins" pitchFamily="34" charset="-120"/>
              </a:rPr>
              <a:t>Kept on the post, deleted after </a:t>
            </a:r>
            <a:pPr indent="0" marL="0">
              <a:lnSpc>
                <a:spcPts val="1638"/>
              </a:lnSpc>
              <a:spcAft>
                <a:spcPts val="468"/>
              </a:spcAft>
              <a:buNone/>
            </a:pPr>
            <a:r>
              <a:rPr lang="en-US" sz="1170" b="1" spc="-11" kern="0" dirty="0">
                <a:solidFill>
                  <a:srgbClr val="5E666F"/>
                </a:solidFill>
                <a:latin typeface="Poppins" pitchFamily="34" charset="0"/>
                <a:ea typeface="Poppins" pitchFamily="34" charset="-122"/>
                <a:cs typeface="Poppins" pitchFamily="34" charset="-120"/>
              </a:rPr>
              <a:t>172,800 s</a:t>
            </a:r>
            <a:endParaRPr lang="en-US" sz="1170" dirty="0"/>
          </a:p>
          <a:p>
            <a:pPr algn="l" indent="0" marL="0">
              <a:lnSpc>
                <a:spcPts val="1638"/>
              </a:lnSpc>
              <a:spcBef>
                <a:spcPts val="234"/>
              </a:spcBef>
              <a:buNone/>
            </a:pPr>
            <a:r>
              <a:rPr lang="en-US" sz="1170" b="1" spc="-11" kern="0" dirty="0">
                <a:solidFill>
                  <a:srgbClr val="5E666F"/>
                </a:solidFill>
                <a:latin typeface="Poppins" pitchFamily="34" charset="0"/>
                <a:ea typeface="Poppins" pitchFamily="34" charset="-122"/>
                <a:cs typeface="Poppins" pitchFamily="34" charset="-120"/>
              </a:rPr>
              <a:t>What is never done</a:t>
            </a:r>
            <a:endParaRPr lang="en-US" sz="1170" dirty="0"/>
          </a:p>
          <a:p>
            <a:pPr marL="228600" indent="-228600">
              <a:lnSpc>
                <a:spcPts val="1638"/>
              </a:lnSpc>
              <a:spcBef>
                <a:spcPts val="1052"/>
              </a:spcBef>
              <a:spcAft>
                <a:spcPts val="468"/>
              </a:spcAft>
              <a:buSzPct val="100000"/>
              <a:buChar char="•"/>
            </a:pPr>
            <a:r>
              <a:rPr lang="en-US" sz="1170" spc="-11" kern="0" dirty="0">
                <a:solidFill>
                  <a:srgbClr val="5E666F"/>
                </a:solidFill>
                <a:latin typeface="Poppins" pitchFamily="34" charset="0"/>
                <a:ea typeface="Poppins" pitchFamily="34" charset="-122"/>
                <a:cs typeface="Poppins" pitchFamily="34" charset="-120"/>
              </a:rPr>
              <a:t>No facial recognition</a:t>
            </a:r>
            <a:endParaRPr lang="en-US" sz="1170" dirty="0"/>
          </a:p>
          <a:p>
            <a:pPr marL="228600" indent="-228600">
              <a:lnSpc>
                <a:spcPts val="1638"/>
              </a:lnSpc>
              <a:spcAft>
                <a:spcPts val="468"/>
              </a:spcAft>
              <a:buSzPct val="100000"/>
              <a:buChar char="•"/>
            </a:pPr>
            <a:r>
              <a:rPr lang="en-US" sz="1170" spc="-11" kern="0" dirty="0">
                <a:solidFill>
                  <a:srgbClr val="5E666F"/>
                </a:solidFill>
                <a:latin typeface="Poppins" pitchFamily="34" charset="0"/>
                <a:ea typeface="Poppins" pitchFamily="34" charset="-122"/>
                <a:cs typeface="Poppins" pitchFamily="34" charset="-120"/>
              </a:rPr>
              <a:t>No cloud upload</a:t>
            </a:r>
            <a:endParaRPr lang="en-US" sz="1170" dirty="0"/>
          </a:p>
          <a:p>
            <a:pPr marL="228600" indent="-228600">
              <a:lnSpc>
                <a:spcPts val="1638"/>
              </a:lnSpc>
              <a:spcAft>
                <a:spcPts val="468"/>
              </a:spcAft>
              <a:buSzPct val="100000"/>
              <a:buChar char="•"/>
            </a:pPr>
            <a:r>
              <a:rPr lang="en-US" sz="1170" spc="-11" kern="0" dirty="0">
                <a:solidFill>
                  <a:srgbClr val="5E666F"/>
                </a:solidFill>
                <a:latin typeface="Poppins" pitchFamily="34" charset="0"/>
                <a:ea typeface="Poppins" pitchFamily="34" charset="-122"/>
                <a:cs typeface="Poppins" pitchFamily="34" charset="-120"/>
              </a:rPr>
              <a:t>No following routine hikers</a:t>
            </a:r>
            <a:endParaRPr lang="en-US" sz="1170" dirty="0"/>
          </a:p>
          <a:p>
            <a:pPr algn="l" indent="0" marL="0">
              <a:lnSpc>
                <a:spcPts val="1638"/>
              </a:lnSpc>
              <a:spcBef>
                <a:spcPts val="234"/>
              </a:spcBef>
              <a:buNone/>
            </a:pPr>
            <a:r>
              <a:rPr lang="en-US" sz="1170" b="1" spc="-11" kern="0" dirty="0">
                <a:solidFill>
                  <a:srgbClr val="5E666F"/>
                </a:solidFill>
                <a:latin typeface="Poppins" pitchFamily="34" charset="0"/>
                <a:ea typeface="Poppins" pitchFamily="34" charset="-122"/>
                <a:cs typeface="Poppins" pitchFamily="34" charset="-120"/>
              </a:rPr>
              <a:t>Qualification:</a:t>
            </a:r>
            <a:pPr algn="l" indent="0" marL="0">
              <a:lnSpc>
                <a:spcPts val="1638"/>
              </a:lnSpc>
              <a:spcBef>
                <a:spcPts val="234"/>
              </a:spcBef>
              <a:buNone/>
            </a:pPr>
            <a:r>
              <a:rPr lang="en-US" sz="1170" spc="-11" kern="0" dirty="0">
                <a:solidFill>
                  <a:srgbClr val="5E666F"/>
                </a:solidFill>
                <a:latin typeface="Poppins" pitchFamily="34" charset="0"/>
                <a:ea typeface="Poppins" pitchFamily="34" charset="-122"/>
                <a:cs typeface="Poppins" pitchFamily="34" charset="-120"/>
              </a:rPr>
              <a:t> these are design controls, not a legal-compliance claim. Anonymous tracks can still be privacy-sensitive.</a:t>
            </a:r>
            <a:endParaRPr lang="en-US" sz="11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51979"/>
          </a:xfrm>
          <a:prstGeom prst="rect">
            <a:avLst/>
          </a:prstGeom>
          <a:noFill/>
          <a:ln/>
        </p:spPr>
        <p:txBody>
          <a:bodyPr wrap="square" lIns="0" tIns="0" rIns="0" bIns="0" rtlCol="0" anchor="t"/>
          <a:lstStyle/>
          <a:p>
            <a:pPr algn="l" indent="0" marL="0">
              <a:lnSpc>
                <a:spcPts val="2772"/>
              </a:lnSpc>
              <a:buNone/>
            </a:pPr>
            <a:r>
              <a:rPr lang="en-US" sz="2310" b="1" spc="-69" kern="0" dirty="0">
                <a:solidFill>
                  <a:srgbClr val="12284C"/>
                </a:solidFill>
                <a:latin typeface="Poppins" pitchFamily="34" charset="0"/>
                <a:ea typeface="Poppins" pitchFamily="34" charset="-122"/>
                <a:cs typeface="Poppins" pitchFamily="34" charset="-120"/>
              </a:rPr>
              <a:t>The Collector Hub Fuses Sightings into Tracks</a:t>
            </a:r>
            <a:endParaRPr lang="en-US" sz="2310" dirty="0"/>
          </a:p>
        </p:txBody>
      </p:sp>
      <p:pic>
        <p:nvPicPr>
          <p:cNvPr id="3" name="Image 0" descr="Karhunkierros SAR Technical Illustration">    </p:cNvPr>
          <p:cNvPicPr>
            <a:picLocks noChangeAspect="1"/>
          </p:cNvPicPr>
          <p:nvPr/>
        </p:nvPicPr>
        <p:blipFill>
          <a:blip r:embed="rId1"/>
          <a:stretch>
            <a:fillRect/>
          </a:stretch>
        </p:blipFill>
        <p:spPr>
          <a:xfrm>
            <a:off x="544711" y="971104"/>
            <a:ext cx="8054578" cy="3417094"/>
          </a:xfrm>
          <a:prstGeom prst="rect">
            <a:avLst/>
          </a:prstGeom>
        </p:spPr>
      </p:pic>
      <p:sp>
        <p:nvSpPr>
          <p:cNvPr id="4" name="Text 1"/>
          <p:cNvSpPr/>
          <p:nvPr/>
        </p:nvSpPr>
        <p:spPr>
          <a:xfrm>
            <a:off x="381000" y="4550122"/>
            <a:ext cx="8382000" cy="186630"/>
          </a:xfrm>
          <a:prstGeom prst="rect">
            <a:avLst/>
          </a:prstGeom>
          <a:noFill/>
          <a:ln/>
        </p:spPr>
        <p:txBody>
          <a:bodyPr wrap="square" lIns="0" tIns="0" rIns="0" bIns="0" rtlCol="0" anchor="t"/>
          <a:lstStyle/>
          <a:p>
            <a:pPr algn="l" indent="0" marL="0">
              <a:lnSpc>
                <a:spcPts val="1470"/>
              </a:lnSpc>
              <a:buNone/>
            </a:pPr>
            <a:r>
              <a:rPr lang="en-US" sz="1050" i="1" spc="-11" kern="0" dirty="0">
                <a:solidFill>
                  <a:srgbClr val="5E666F"/>
                </a:solidFill>
                <a:latin typeface="Poppins" pitchFamily="34" charset="0"/>
                <a:ea typeface="Poppins" pitchFamily="34" charset="-122"/>
                <a:cs typeface="Poppins" pitchFamily="34" charset="-120"/>
              </a:rPr>
              <a:t>Fusion pipeline verified in simulation; posts send data to the hub over fiber, not radio.</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697409"/>
          </a:xfrm>
          <a:prstGeom prst="rect">
            <a:avLst/>
          </a:prstGeom>
          <a:noFill/>
          <a:ln/>
        </p:spPr>
        <p:txBody>
          <a:bodyPr wrap="square" lIns="0" tIns="0" rIns="0" bIns="0" rtlCol="0" anchor="t"/>
          <a:lstStyle/>
          <a:p>
            <a:pPr algn="l" indent="0" marL="0">
              <a:lnSpc>
                <a:spcPts val="2746"/>
              </a:lnSpc>
              <a:buNone/>
            </a:pPr>
            <a:r>
              <a:rPr lang="en-US" sz="2288" b="1" spc="-69" kern="0" dirty="0">
                <a:solidFill>
                  <a:srgbClr val="12284C"/>
                </a:solidFill>
                <a:latin typeface="Poppins" pitchFamily="34" charset="0"/>
                <a:ea typeface="Poppins" pitchFamily="34" charset="-122"/>
                <a:cs typeface="Poppins" pitchFamily="34" charset="-120"/>
              </a:rPr>
              <a:t>A Verified Alert Becomes an Open Task for Every Nearby Unit</a:t>
            </a:r>
            <a:endParaRPr lang="en-US" sz="2288" dirty="0"/>
          </a:p>
        </p:txBody>
      </p:sp>
      <p:pic>
        <p:nvPicPr>
          <p:cNvPr id="3" name="Image 0" descr="Karhunkierros SAR Technical Illustration">    </p:cNvPr>
          <p:cNvPicPr>
            <a:picLocks noChangeAspect="1"/>
          </p:cNvPicPr>
          <p:nvPr/>
        </p:nvPicPr>
        <p:blipFill>
          <a:blip r:embed="rId1"/>
          <a:stretch>
            <a:fillRect/>
          </a:stretch>
        </p:blipFill>
        <p:spPr>
          <a:xfrm>
            <a:off x="583212" y="1316534"/>
            <a:ext cx="7977576" cy="3384426"/>
          </a:xfrm>
          <a:prstGeom prst="rect">
            <a:avLst/>
          </a:prstGeom>
        </p:spPr>
      </p:pic>
      <p:sp>
        <p:nvSpPr>
          <p:cNvPr id="4" name="Text 1"/>
          <p:cNvSpPr/>
          <p:nvPr/>
        </p:nvSpPr>
        <p:spPr>
          <a:xfrm>
            <a:off x="381000" y="4862885"/>
            <a:ext cx="8382000" cy="184919"/>
          </a:xfrm>
          <a:prstGeom prst="rect">
            <a:avLst/>
          </a:prstGeom>
          <a:noFill/>
          <a:ln/>
        </p:spPr>
        <p:txBody>
          <a:bodyPr wrap="square" lIns="0" tIns="0" rIns="0" bIns="0" rtlCol="0" anchor="t"/>
          <a:lstStyle/>
          <a:p>
            <a:pPr algn="l" indent="0" marL="0">
              <a:lnSpc>
                <a:spcPts val="1456"/>
              </a:lnSpc>
              <a:buNone/>
            </a:pPr>
            <a:r>
              <a:rPr lang="en-US" sz="1040" i="1" spc="-11" kern="0" dirty="0">
                <a:solidFill>
                  <a:srgbClr val="5E666F"/>
                </a:solidFill>
                <a:latin typeface="Poppins" pitchFamily="34" charset="0"/>
                <a:ea typeface="Poppins" pitchFamily="34" charset="-122"/>
                <a:cs typeface="Poppins" pitchFamily="34" charset="-120"/>
              </a:rPr>
              <a:t>112, satellite-messenger and agency links are proposed interfaces, not live integrations or partnerships. Gate logic is simulated.</a:t>
            </a:r>
            <a:endParaRPr lang="en-US" sz="10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804714"/>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The System Ranks Volunteers; a Human Keeps Authority</a:t>
            </a:r>
            <a:endParaRPr lang="en-US" sz="2640" dirty="0"/>
          </a:p>
        </p:txBody>
      </p:sp>
      <p:sp>
        <p:nvSpPr>
          <p:cNvPr id="3" name="Text 1"/>
          <p:cNvSpPr/>
          <p:nvPr/>
        </p:nvSpPr>
        <p:spPr>
          <a:xfrm>
            <a:off x="443805" y="1400919"/>
            <a:ext cx="3825032" cy="176064"/>
          </a:xfrm>
          <a:prstGeom prst="rect">
            <a:avLst/>
          </a:prstGeom>
          <a:noFill/>
          <a:ln/>
        </p:spPr>
        <p:txBody>
          <a:bodyPr wrap="square" lIns="0" tIns="0" rIns="0" bIns="0" rtlCol="0" anchor="t"/>
          <a:lstStyle/>
          <a:p>
            <a:pPr algn="l" indent="0" marL="0">
              <a:lnSpc>
                <a:spcPts val="1386"/>
              </a:lnSpc>
              <a:buNone/>
            </a:pPr>
            <a:r>
              <a:rPr lang="en-US" sz="990" b="1" spc="-11" kern="0" dirty="0">
                <a:solidFill>
                  <a:srgbClr val="5E666F"/>
                </a:solidFill>
                <a:latin typeface="Poppins" pitchFamily="34" charset="0"/>
                <a:ea typeface="Poppins" pitchFamily="34" charset="-122"/>
                <a:cs typeface="Poppins" pitchFamily="34" charset="-120"/>
              </a:rPr>
              <a:t>Default scoring of each accepting unit</a:t>
            </a:r>
            <a:endParaRPr lang="en-US" sz="99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43805" y="1721867"/>
          <a:ext cx="3825032" cy="914400"/>
        </p:xfrm>
        <a:graphic>
          <a:graphicData uri="http://schemas.openxmlformats.org/drawingml/2006/table">
            <a:tbl>
              <a:tblPr/>
              <a:tblGrid>
                <a:gridCol w="1912516"/>
                <a:gridCol w="1912516"/>
              </a:tblGrid>
              <a:tr h="0">
                <a:tc>
                  <a:txBody>
                    <a:bodyPr/>
                    <a:lstStyle/>
                    <a:p>
                      <a:pPr algn="l" indent="0" marL="0">
                        <a:buNone/>
                      </a:pPr>
                      <a:r>
                        <a:rPr lang="en-US" sz="891" b="1" dirty="0">
                          <a:solidFill>
                            <a:srgbClr val="444444"/>
                          </a:solidFill>
                          <a:latin typeface="Arial" pitchFamily="34" charset="0"/>
                          <a:ea typeface="Arial" pitchFamily="34" charset="-122"/>
                          <a:cs typeface="Arial" pitchFamily="34" charset="-120"/>
                        </a:rPr>
                        <a:t>Factor</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891" b="1" dirty="0">
                          <a:solidFill>
                            <a:srgbClr val="444444"/>
                          </a:solidFill>
                          <a:latin typeface="Arial" pitchFamily="34" charset="0"/>
                          <a:ea typeface="Arial" pitchFamily="34" charset="-122"/>
                          <a:cs typeface="Arial" pitchFamily="34" charset="-120"/>
                        </a:rPr>
                        <a:t>Weight</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r>
              <a:tr h="0">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Flight ETA</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45%</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Winter battery margin</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25%</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Sensor and payload capability</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15%</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Readiness of shelter and links</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91" dirty="0">
                          <a:solidFill>
                            <a:srgbClr val="444444"/>
                          </a:solidFill>
                          <a:latin typeface="Arial" pitchFamily="34" charset="0"/>
                          <a:ea typeface="Arial" pitchFamily="34" charset="-122"/>
                          <a:cs typeface="Arial" pitchFamily="34" charset="-120"/>
                        </a:rPr>
                        <a:t>15%</a:t>
                      </a:r>
                      <a:endParaRPr lang="en-US" sz="891"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bl>
          </a:graphicData>
        </a:graphic>
      </p:graphicFrame>
      <p:sp>
        <p:nvSpPr>
          <p:cNvPr id="5" name="Text 2"/>
          <p:cNvSpPr/>
          <p:nvPr/>
        </p:nvSpPr>
        <p:spPr>
          <a:xfrm>
            <a:off x="443805" y="3793331"/>
            <a:ext cx="3825032" cy="829791"/>
          </a:xfrm>
          <a:prstGeom prst="rect">
            <a:avLst/>
          </a:prstGeom>
          <a:noFill/>
          <a:ln/>
        </p:spPr>
        <p:txBody>
          <a:bodyPr wrap="square" lIns="0" tIns="0" rIns="0" bIns="0" rtlCol="0" anchor="t"/>
          <a:lstStyle/>
          <a:p>
            <a:pPr marL="228600" indent="-228600">
              <a:lnSpc>
                <a:spcPts val="1386"/>
              </a:lnSpc>
              <a:spcAft>
                <a:spcPts val="396"/>
              </a:spcAft>
              <a:buSzPct val="100000"/>
              <a:buChar char="•"/>
            </a:pPr>
            <a:r>
              <a:rPr lang="en-US" sz="990" b="1" spc="-11" kern="0" dirty="0">
                <a:solidFill>
                  <a:srgbClr val="5E666F"/>
                </a:solidFill>
                <a:latin typeface="Poppins" pitchFamily="34" charset="0"/>
                <a:ea typeface="Poppins" pitchFamily="34" charset="-122"/>
                <a:cs typeface="Poppins" pitchFamily="34" charset="-120"/>
              </a:rPr>
              <a:t>#1 Primary rescuer</a:t>
            </a:r>
            <a:pPr indent="0" marL="0">
              <a:lnSpc>
                <a:spcPts val="1386"/>
              </a:lnSpc>
              <a:spcAft>
                <a:spcPts val="396"/>
              </a:spcAft>
              <a:buNone/>
            </a:pPr>
            <a:r>
              <a:rPr lang="en-US" sz="990" spc="-11" kern="0" dirty="0">
                <a:solidFill>
                  <a:srgbClr val="5E666F"/>
                </a:solidFill>
                <a:latin typeface="Poppins" pitchFamily="34" charset="0"/>
                <a:ea typeface="Poppins" pitchFamily="34" charset="-122"/>
                <a:cs typeface="Poppins" pitchFamily="34" charset="-120"/>
              </a:rPr>
              <a:t> and </a:t>
            </a:r>
            <a:pPr indent="0" marL="0">
              <a:lnSpc>
                <a:spcPts val="1386"/>
              </a:lnSpc>
              <a:spcAft>
                <a:spcPts val="396"/>
              </a:spcAft>
              <a:buNone/>
            </a:pPr>
            <a:r>
              <a:rPr lang="en-US" sz="990" b="1" spc="-11" kern="0" dirty="0">
                <a:solidFill>
                  <a:srgbClr val="5E666F"/>
                </a:solidFill>
                <a:latin typeface="Poppins" pitchFamily="34" charset="0"/>
                <a:ea typeface="Poppins" pitchFamily="34" charset="-122"/>
                <a:cs typeface="Poppins" pitchFamily="34" charset="-120"/>
              </a:rPr>
              <a:t>#2 Backup</a:t>
            </a:r>
            <a:pPr indent="0" marL="0">
              <a:lnSpc>
                <a:spcPts val="1386"/>
              </a:lnSpc>
              <a:spcAft>
                <a:spcPts val="396"/>
              </a:spcAft>
              <a:buNone/>
            </a:pPr>
            <a:r>
              <a:rPr lang="en-US" sz="990" spc="-11" kern="0" dirty="0">
                <a:solidFill>
                  <a:srgbClr val="5E666F"/>
                </a:solidFill>
                <a:latin typeface="Poppins" pitchFamily="34" charset="0"/>
                <a:ea typeface="Poppins" pitchFamily="34" charset="-122"/>
                <a:cs typeface="Poppins" pitchFamily="34" charset="-120"/>
              </a:rPr>
              <a:t> are awarded</a:t>
            </a:r>
            <a:endParaRPr lang="en-US" sz="990" dirty="0"/>
          </a:p>
          <a:p>
            <a:pPr marL="228600" indent="-228600">
              <a:lnSpc>
                <a:spcPts val="1386"/>
              </a:lnSpc>
              <a:spcAft>
                <a:spcPts val="396"/>
              </a:spcAft>
              <a:buSzPct val="100000"/>
              <a:buChar char="•"/>
            </a:pPr>
            <a:r>
              <a:rPr lang="en-US" sz="990" spc="-11" kern="0" dirty="0">
                <a:solidFill>
                  <a:srgbClr val="5E666F"/>
                </a:solidFill>
                <a:latin typeface="Poppins" pitchFamily="34" charset="0"/>
                <a:ea typeface="Poppins" pitchFamily="34" charset="-122"/>
                <a:cs typeface="Poppins" pitchFamily="34" charset="-120"/>
              </a:rPr>
              <a:t>If #1 aborts, #2 is re-checked live before promotion</a:t>
            </a:r>
            <a:endParaRPr lang="en-US" sz="990" dirty="0"/>
          </a:p>
          <a:p>
            <a:pPr marL="228600" indent="-228600">
              <a:lnSpc>
                <a:spcPts val="1386"/>
              </a:lnSpc>
              <a:spcAft>
                <a:spcPts val="396"/>
              </a:spcAft>
              <a:buSzPct val="100000"/>
              <a:buChar char="•"/>
            </a:pPr>
            <a:r>
              <a:rPr lang="en-US" sz="990" spc="-11" kern="0" dirty="0">
                <a:solidFill>
                  <a:srgbClr val="5E666F"/>
                </a:solidFill>
                <a:latin typeface="Poppins" pitchFamily="34" charset="0"/>
                <a:ea typeface="Poppins" pitchFamily="34" charset="-122"/>
                <a:cs typeface="Poppins" pitchFamily="34" charset="-120"/>
              </a:rPr>
              <a:t>No feasible, safe unit means </a:t>
            </a:r>
            <a:pPr indent="0" marL="0">
              <a:lnSpc>
                <a:spcPts val="1386"/>
              </a:lnSpc>
              <a:spcAft>
                <a:spcPts val="396"/>
              </a:spcAft>
              <a:buNone/>
            </a:pPr>
            <a:r>
              <a:rPr lang="en-US" sz="990" b="1" spc="-11" kern="0" dirty="0">
                <a:solidFill>
                  <a:srgbClr val="5E666F"/>
                </a:solidFill>
                <a:latin typeface="Poppins" pitchFamily="34" charset="0"/>
                <a:ea typeface="Poppins" pitchFamily="34" charset="-122"/>
                <a:cs typeface="Poppins" pitchFamily="34" charset="-120"/>
              </a:rPr>
              <a:t>no launch</a:t>
            </a:r>
            <a:endParaRPr lang="en-US" sz="990" dirty="0"/>
          </a:p>
        </p:txBody>
      </p:sp>
      <p:pic>
        <p:nvPicPr>
          <p:cNvPr id="6" name="Image 0" descr="Karhunkierros SAR Technical Illustration">    </p:cNvPr>
          <p:cNvPicPr>
            <a:picLocks noChangeAspect="1"/>
          </p:cNvPicPr>
          <p:nvPr/>
        </p:nvPicPr>
        <p:blipFill>
          <a:blip r:embed="rId1"/>
          <a:stretch>
            <a:fillRect/>
          </a:stretch>
        </p:blipFill>
        <p:spPr>
          <a:xfrm>
            <a:off x="4538001" y="1544464"/>
            <a:ext cx="4171041" cy="31143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68796"/>
          </a:xfrm>
          <a:prstGeom prst="rect">
            <a:avLst/>
          </a:prstGeom>
          <a:noFill/>
          <a:ln/>
        </p:spPr>
        <p:txBody>
          <a:bodyPr wrap="square" lIns="0" tIns="0" rIns="0" bIns="0" rtlCol="0" anchor="t"/>
          <a:lstStyle/>
          <a:p>
            <a:pPr algn="l" indent="0" marL="0">
              <a:lnSpc>
                <a:spcPts val="2904"/>
              </a:lnSpc>
              <a:buNone/>
            </a:pPr>
            <a:r>
              <a:rPr lang="en-US" sz="2420" b="1" spc="-73" kern="0" dirty="0">
                <a:solidFill>
                  <a:srgbClr val="12284C"/>
                </a:solidFill>
                <a:latin typeface="Poppins" pitchFamily="34" charset="0"/>
                <a:ea typeface="Poppins" pitchFamily="34" charset="-122"/>
                <a:cs typeface="Poppins" pitchFamily="34" charset="-120"/>
              </a:rPr>
              <a:t>Two Ways to Launch: Mobile Crew or Heated Roofed Nest</a:t>
            </a:r>
            <a:endParaRPr lang="en-US" sz="2420" dirty="0"/>
          </a:p>
        </p:txBody>
      </p:sp>
      <p:pic>
        <p:nvPicPr>
          <p:cNvPr id="3" name="Image 0" descr="Karhunkierros SAR Technical Illustration">    </p:cNvPr>
          <p:cNvPicPr>
            <a:picLocks noChangeAspect="1"/>
          </p:cNvPicPr>
          <p:nvPr/>
        </p:nvPicPr>
        <p:blipFill>
          <a:blip r:embed="rId1"/>
          <a:stretch>
            <a:fillRect/>
          </a:stretch>
        </p:blipFill>
        <p:spPr>
          <a:xfrm>
            <a:off x="390530" y="987921"/>
            <a:ext cx="8362939" cy="3547914"/>
          </a:xfrm>
          <a:prstGeom prst="rect">
            <a:avLst/>
          </a:prstGeom>
        </p:spPr>
      </p:pic>
      <p:sp>
        <p:nvSpPr>
          <p:cNvPr id="4" name="Text 1"/>
          <p:cNvSpPr/>
          <p:nvPr/>
        </p:nvSpPr>
        <p:spPr>
          <a:xfrm>
            <a:off x="381000" y="4697760"/>
            <a:ext cx="8382000" cy="195486"/>
          </a:xfrm>
          <a:prstGeom prst="rect">
            <a:avLst/>
          </a:prstGeom>
          <a:noFill/>
          <a:ln/>
        </p:spPr>
        <p:txBody>
          <a:bodyPr wrap="square" lIns="0" tIns="0" rIns="0" bIns="0" rtlCol="0" anchor="t"/>
          <a:lstStyle/>
          <a:p>
            <a:pPr algn="l" indent="0" marL="0">
              <a:lnSpc>
                <a:spcPts val="1540"/>
              </a:lnSpc>
              <a:buNone/>
            </a:pPr>
            <a:r>
              <a:rPr lang="en-US" sz="1100" i="1" spc="-11" kern="0" dirty="0">
                <a:solidFill>
                  <a:srgbClr val="5E666F"/>
                </a:solidFill>
                <a:latin typeface="Poppins" pitchFamily="34" charset="0"/>
                <a:ea typeface="Poppins" pitchFamily="34" charset="-122"/>
                <a:cs typeface="Poppins" pitchFamily="34" charset="-120"/>
              </a:rPr>
              <a:t>Interlock thresholds and nest temperature are design values; the 14 km auto-accept radius is a configurable default.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51979"/>
          </a:xfrm>
          <a:prstGeom prst="rect">
            <a:avLst/>
          </a:prstGeom>
          <a:noFill/>
          <a:ln/>
        </p:spPr>
        <p:txBody>
          <a:bodyPr wrap="square" lIns="0" tIns="0" rIns="0" bIns="0" rtlCol="0" anchor="t"/>
          <a:lstStyle/>
          <a:p>
            <a:pPr algn="l" indent="0" marL="0">
              <a:lnSpc>
                <a:spcPts val="2772"/>
              </a:lnSpc>
              <a:buNone/>
            </a:pPr>
            <a:r>
              <a:rPr lang="en-US" sz="2310" b="1" spc="-69" kern="0" dirty="0">
                <a:solidFill>
                  <a:srgbClr val="12284C"/>
                </a:solidFill>
                <a:latin typeface="Poppins" pitchFamily="34" charset="0"/>
                <a:ea typeface="Poppins" pitchFamily="34" charset="-122"/>
                <a:cs typeface="Poppins" pitchFamily="34" charset="-120"/>
              </a:rPr>
              <a:t>The Rescue Aircraft, Part by Part</a:t>
            </a:r>
            <a:endParaRPr lang="en-US" sz="2310" dirty="0"/>
          </a:p>
        </p:txBody>
      </p:sp>
      <p:pic>
        <p:nvPicPr>
          <p:cNvPr id="3" name="Image 0" descr="Karhunkierros SAR Technical Illustration">    </p:cNvPr>
          <p:cNvPicPr>
            <a:picLocks noChangeAspect="1"/>
          </p:cNvPicPr>
          <p:nvPr/>
        </p:nvPicPr>
        <p:blipFill>
          <a:blip r:embed="rId1"/>
          <a:stretch>
            <a:fillRect/>
          </a:stretch>
        </p:blipFill>
        <p:spPr>
          <a:xfrm>
            <a:off x="544711" y="971104"/>
            <a:ext cx="8054578" cy="3417094"/>
          </a:xfrm>
          <a:prstGeom prst="rect">
            <a:avLst/>
          </a:prstGeom>
        </p:spPr>
      </p:pic>
      <p:sp>
        <p:nvSpPr>
          <p:cNvPr id="4" name="Text 1"/>
          <p:cNvSpPr/>
          <p:nvPr/>
        </p:nvSpPr>
        <p:spPr>
          <a:xfrm>
            <a:off x="381000" y="4550122"/>
            <a:ext cx="8382000" cy="186630"/>
          </a:xfrm>
          <a:prstGeom prst="rect">
            <a:avLst/>
          </a:prstGeom>
          <a:noFill/>
          <a:ln/>
        </p:spPr>
        <p:txBody>
          <a:bodyPr wrap="square" lIns="0" tIns="0" rIns="0" bIns="0" rtlCol="0" anchor="t"/>
          <a:lstStyle/>
          <a:p>
            <a:pPr algn="l" indent="0" marL="0">
              <a:lnSpc>
                <a:spcPts val="1470"/>
              </a:lnSpc>
              <a:buNone/>
            </a:pPr>
            <a:r>
              <a:rPr lang="en-US" sz="1050" i="1" spc="-11" kern="0" dirty="0">
                <a:solidFill>
                  <a:srgbClr val="5E666F"/>
                </a:solidFill>
                <a:latin typeface="Poppins" pitchFamily="34" charset="0"/>
                <a:ea typeface="Poppins" pitchFamily="34" charset="-122"/>
                <a:cs typeface="Poppins" pitchFamily="34" charset="-120"/>
              </a:rPr>
              <a:t>Concept catalog of reference COTS parts (v2.0 BOM). Compatibility and integration are still to be verified.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402357"/>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Power, Data and Control Flow</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66747" y="1173882"/>
            <a:ext cx="4354518" cy="3251374"/>
          </a:xfrm>
          <a:prstGeom prst="rect">
            <a:avLst/>
          </a:prstGeom>
        </p:spPr>
      </p:pic>
      <p:sp>
        <p:nvSpPr>
          <p:cNvPr id="4" name="Text 1"/>
          <p:cNvSpPr/>
          <p:nvPr/>
        </p:nvSpPr>
        <p:spPr>
          <a:xfrm>
            <a:off x="5135612" y="1011957"/>
            <a:ext cx="3551188" cy="2575322"/>
          </a:xfrm>
          <a:prstGeom prst="rect">
            <a:avLst/>
          </a:prstGeom>
          <a:noFill/>
          <a:ln/>
        </p:spPr>
        <p:txBody>
          <a:bodyPr wrap="square" lIns="0" tIns="0" rIns="0" bIns="0" rtlCol="0" anchor="t"/>
          <a:lstStyle/>
          <a:p>
            <a:pPr algn="l" indent="0" marL="0">
              <a:lnSpc>
                <a:spcPts val="1680"/>
              </a:lnSpc>
              <a:buNone/>
            </a:pPr>
            <a:r>
              <a:rPr lang="en-US" sz="1200" b="1" spc="-11" kern="0" dirty="0">
                <a:solidFill>
                  <a:srgbClr val="5E666F"/>
                </a:solidFill>
                <a:latin typeface="Poppins" pitchFamily="34" charset="0"/>
                <a:ea typeface="Poppins" pitchFamily="34" charset="-122"/>
                <a:cs typeface="Poppins" pitchFamily="34" charset="-120"/>
              </a:rPr>
              <a:t>Who does what in the aircraft</a:t>
            </a:r>
            <a:endParaRPr lang="en-US" sz="1200" dirty="0"/>
          </a:p>
          <a:p>
            <a:pPr marL="228600" indent="-228600">
              <a:lnSpc>
                <a:spcPts val="1680"/>
              </a:lnSpc>
              <a:spcBef>
                <a:spcPts val="1080"/>
              </a:spcBef>
              <a:spcAft>
                <a:spcPts val="480"/>
              </a:spcAft>
              <a:buSzPct val="100000"/>
              <a:buChar char="•"/>
            </a:pPr>
            <a:r>
              <a:rPr lang="en-US" sz="1200" b="1" spc="-11" kern="0" dirty="0">
                <a:solidFill>
                  <a:srgbClr val="5E666F"/>
                </a:solidFill>
                <a:latin typeface="Poppins" pitchFamily="34" charset="0"/>
                <a:ea typeface="Poppins" pitchFamily="34" charset="-122"/>
                <a:cs typeface="Poppins" pitchFamily="34" charset="-120"/>
              </a:rPr>
              <a:t>Pixhawk 6C (ArduCopter 4.5+):</a:t>
            </a:r>
            <a:pPr indent="0" marL="0">
              <a:lnSpc>
                <a:spcPts val="1680"/>
              </a:lnSpc>
              <a:spcBef>
                <a:spcPts val="1080"/>
              </a:spcBef>
              <a:spcAft>
                <a:spcPts val="480"/>
              </a:spcAft>
              <a:buNone/>
            </a:pPr>
            <a:r>
              <a:rPr lang="en-US" sz="1200" spc="-11" kern="0" dirty="0">
                <a:solidFill>
                  <a:srgbClr val="5E666F"/>
                </a:solidFill>
                <a:latin typeface="Poppins" pitchFamily="34" charset="0"/>
                <a:ea typeface="Poppins" pitchFamily="34" charset="-122"/>
                <a:cs typeface="Poppins" pitchFamily="34" charset="-120"/>
              </a:rPr>
              <a:t> stabilises, fuses navigation, runs failsafes</a:t>
            </a:r>
            <a:endParaRPr lang="en-US" sz="1200" dirty="0"/>
          </a:p>
          <a:p>
            <a:pPr marL="228600" indent="-228600">
              <a:lnSpc>
                <a:spcPts val="1680"/>
              </a:lnSpc>
              <a:spcAft>
                <a:spcPts val="480"/>
              </a:spcAft>
              <a:buSzPct val="100000"/>
              <a:buChar char="•"/>
            </a:pPr>
            <a:r>
              <a:rPr lang="en-US" sz="1200" b="1" spc="-11" kern="0" dirty="0">
                <a:solidFill>
                  <a:srgbClr val="5E666F"/>
                </a:solidFill>
                <a:latin typeface="Poppins" pitchFamily="34" charset="0"/>
                <a:ea typeface="Poppins" pitchFamily="34" charset="-122"/>
                <a:cs typeface="Poppins" pitchFamily="34" charset="-120"/>
              </a:rPr>
              <a:t>Raspberry Pi 5:</a:t>
            </a:r>
            <a:pPr indent="0" marL="0">
              <a:lnSpc>
                <a:spcPts val="1680"/>
              </a:lnSpc>
              <a:spcAft>
                <a:spcPts val="480"/>
              </a:spcAft>
              <a:buNone/>
            </a:pPr>
            <a:r>
              <a:rPr lang="en-US" sz="1200" spc="-11" kern="0" dirty="0">
                <a:solidFill>
                  <a:srgbClr val="5E666F"/>
                </a:solidFill>
                <a:latin typeface="Poppins" pitchFamily="34" charset="0"/>
                <a:ea typeface="Poppins" pitchFamily="34" charset="-122"/>
                <a:cs typeface="Poppins" pitchFamily="34" charset="-120"/>
              </a:rPr>
              <a:t> detects people, tracks, plans guidance, enforces the 15 m standoff (design constraint)</a:t>
            </a:r>
            <a:endParaRPr lang="en-US" sz="1200" dirty="0"/>
          </a:p>
          <a:p>
            <a:pPr marL="228600" indent="-228600">
              <a:lnSpc>
                <a:spcPts val="1680"/>
              </a:lnSpc>
              <a:spcAft>
                <a:spcPts val="480"/>
              </a:spcAft>
              <a:buSzPct val="100000"/>
              <a:buChar char="•"/>
            </a:pPr>
            <a:r>
              <a:rPr lang="en-US" sz="1200" b="1" spc="-11" kern="0" dirty="0">
                <a:solidFill>
                  <a:srgbClr val="5E666F"/>
                </a:solidFill>
                <a:latin typeface="Poppins" pitchFamily="34" charset="0"/>
                <a:ea typeface="Poppins" pitchFamily="34" charset="-122"/>
                <a:cs typeface="Poppins" pitchFamily="34" charset="-120"/>
              </a:rPr>
              <a:t>Safety pilot:</a:t>
            </a:r>
            <a:pPr indent="0" marL="0">
              <a:lnSpc>
                <a:spcPts val="1680"/>
              </a:lnSpc>
              <a:spcAft>
                <a:spcPts val="480"/>
              </a:spcAft>
              <a:buNone/>
            </a:pPr>
            <a:r>
              <a:rPr lang="en-US" sz="1200" spc="-11" kern="0" dirty="0">
                <a:solidFill>
                  <a:srgbClr val="5E666F"/>
                </a:solidFill>
                <a:latin typeface="Poppins" pitchFamily="34" charset="0"/>
                <a:ea typeface="Poppins" pitchFamily="34" charset="-122"/>
                <a:cs typeface="Poppins" pitchFamily="34" charset="-120"/>
              </a:rPr>
              <a:t> can take over instantly with LOITER, GUIDED or RTL</a:t>
            </a:r>
            <a:endParaRPr lang="en-US" sz="1200" dirty="0"/>
          </a:p>
          <a:p>
            <a:pPr marL="228600" indent="-228600">
              <a:lnSpc>
                <a:spcPts val="1680"/>
              </a:lnSpc>
              <a:spcAft>
                <a:spcPts val="480"/>
              </a:spcAft>
              <a:buSzPct val="100000"/>
              <a:buChar char="•"/>
            </a:pPr>
            <a:r>
              <a:rPr lang="en-US" sz="1200" b="1" spc="-11" kern="0" dirty="0">
                <a:solidFill>
                  <a:srgbClr val="5E666F"/>
                </a:solidFill>
                <a:latin typeface="Poppins" pitchFamily="34" charset="0"/>
                <a:ea typeface="Poppins" pitchFamily="34" charset="-122"/>
                <a:cs typeface="Poppins" pitchFamily="34" charset="-120"/>
              </a:rPr>
              <a:t>Coordinator:</a:t>
            </a:r>
            <a:pPr indent="0" marL="0">
              <a:lnSpc>
                <a:spcPts val="1680"/>
              </a:lnSpc>
              <a:spcAft>
                <a:spcPts val="480"/>
              </a:spcAft>
              <a:buNone/>
            </a:pPr>
            <a:r>
              <a:rPr lang="en-US" sz="1200" spc="-11" kern="0" dirty="0">
                <a:solidFill>
                  <a:srgbClr val="5E666F"/>
                </a:solidFill>
                <a:latin typeface="Poppins" pitchFamily="34" charset="0"/>
                <a:ea typeface="Poppins" pitchFamily="34" charset="-122"/>
                <a:cs typeface="Poppins" pitchFamily="34" charset="-120"/>
              </a:rPr>
              <a:t> approves, holds or recalls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797868"/>
          </a:xfrm>
          <a:prstGeom prst="rect">
            <a:avLst/>
          </a:prstGeom>
          <a:noFill/>
          <a:ln/>
        </p:spPr>
        <p:txBody>
          <a:bodyPr wrap="square" lIns="0" tIns="0" rIns="0" bIns="0" rtlCol="0" anchor="t"/>
          <a:lstStyle/>
          <a:p>
            <a:pPr algn="l" indent="0" marL="0">
              <a:lnSpc>
                <a:spcPts val="3142"/>
              </a:lnSpc>
              <a:buNone/>
            </a:pPr>
            <a:r>
              <a:rPr lang="en-US" sz="2618" b="1" spc="-79" kern="0" dirty="0">
                <a:solidFill>
                  <a:srgbClr val="12284C"/>
                </a:solidFill>
                <a:latin typeface="Poppins" pitchFamily="34" charset="0"/>
                <a:ea typeface="Poppins" pitchFamily="34" charset="-122"/>
                <a:cs typeface="Poppins" pitchFamily="34" charset="-120"/>
              </a:rPr>
              <a:t>Seeing People at Night, and the Limits Under Canopy</a:t>
            </a:r>
            <a:endParaRPr lang="en-US" sz="2618" dirty="0"/>
          </a:p>
        </p:txBody>
      </p:sp>
      <p:pic>
        <p:nvPicPr>
          <p:cNvPr id="3" name="Image 0" descr="Karhunkierros SAR Technical Illustration">    </p:cNvPr>
          <p:cNvPicPr>
            <a:picLocks noChangeAspect="1"/>
          </p:cNvPicPr>
          <p:nvPr/>
        </p:nvPicPr>
        <p:blipFill>
          <a:blip r:embed="rId1"/>
          <a:stretch>
            <a:fillRect/>
          </a:stretch>
        </p:blipFill>
        <p:spPr>
          <a:xfrm>
            <a:off x="390530" y="1416993"/>
            <a:ext cx="8362939" cy="35479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01675"/>
          </a:xfrm>
          <a:prstGeom prst="rect">
            <a:avLst/>
          </a:prstGeom>
          <a:noFill/>
          <a:ln/>
        </p:spPr>
        <p:txBody>
          <a:bodyPr wrap="square" lIns="0" tIns="0" rIns="0" bIns="0" rtlCol="0" anchor="t"/>
          <a:lstStyle/>
          <a:p>
            <a:pPr algn="l" indent="0" marL="0">
              <a:lnSpc>
                <a:spcPts val="2376"/>
              </a:lnSpc>
              <a:buNone/>
            </a:pPr>
            <a:r>
              <a:rPr lang="en-US" sz="1980" b="1" spc="-59" kern="0" dirty="0">
                <a:solidFill>
                  <a:srgbClr val="12284C"/>
                </a:solidFill>
                <a:latin typeface="Poppins" pitchFamily="34" charset="0"/>
                <a:ea typeface="Poppins" pitchFamily="34" charset="-122"/>
                <a:cs typeface="Poppins" pitchFamily="34" charset="-120"/>
              </a:rPr>
              <a:t>Meet the Hiker Where They Will Be, or Search the Area Systematically</a:t>
            </a:r>
            <a:endParaRPr lang="en-US" sz="1980" dirty="0"/>
          </a:p>
        </p:txBody>
      </p:sp>
      <p:pic>
        <p:nvPicPr>
          <p:cNvPr id="3" name="Image 0" descr="Karhunkierros SAR Technical Illustration">    </p:cNvPr>
          <p:cNvPicPr>
            <a:picLocks noChangeAspect="1"/>
          </p:cNvPicPr>
          <p:nvPr/>
        </p:nvPicPr>
        <p:blipFill>
          <a:blip r:embed="rId1"/>
          <a:stretch>
            <a:fillRect/>
          </a:stretch>
        </p:blipFill>
        <p:spPr>
          <a:xfrm>
            <a:off x="659864" y="920800"/>
            <a:ext cx="7824272" cy="3319388"/>
          </a:xfrm>
          <a:prstGeom prst="rect">
            <a:avLst/>
          </a:prstGeom>
        </p:spPr>
      </p:pic>
      <p:sp>
        <p:nvSpPr>
          <p:cNvPr id="4" name="Text 1"/>
          <p:cNvSpPr/>
          <p:nvPr/>
        </p:nvSpPr>
        <p:spPr>
          <a:xfrm>
            <a:off x="381000" y="4402113"/>
            <a:ext cx="8382000" cy="159990"/>
          </a:xfrm>
          <a:prstGeom prst="rect">
            <a:avLst/>
          </a:prstGeom>
          <a:noFill/>
          <a:ln/>
        </p:spPr>
        <p:txBody>
          <a:bodyPr wrap="square" lIns="0" tIns="0" rIns="0" bIns="0" rtlCol="0" anchor="t"/>
          <a:lstStyle/>
          <a:p>
            <a:pPr algn="l" indent="0" marL="0">
              <a:lnSpc>
                <a:spcPts val="1260"/>
              </a:lnSpc>
              <a:buNone/>
            </a:pPr>
            <a:r>
              <a:rPr lang="en-US" sz="900" i="1" spc="-11" kern="0" dirty="0">
                <a:solidFill>
                  <a:srgbClr val="5E666F"/>
                </a:solidFill>
                <a:latin typeface="Poppins" pitchFamily="34" charset="0"/>
                <a:ea typeface="Poppins" pitchFamily="34" charset="-122"/>
                <a:cs typeface="Poppins" pitchFamily="34" charset="-120"/>
              </a:rPr>
              <a:t>Timings and search geometry are modeled in simulation, not field-measured.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804714"/>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Navigation in Layers, So a Jammed GPS Does Not Mean a Lost Drone</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39283" y="1544464"/>
            <a:ext cx="4820138" cy="3599036"/>
          </a:xfrm>
          <a:prstGeom prst="rect">
            <a:avLst/>
          </a:prstGeom>
        </p:spPr>
      </p:pic>
      <p:sp>
        <p:nvSpPr>
          <p:cNvPr id="4" name="Text 1"/>
          <p:cNvSpPr/>
          <p:nvPr/>
        </p:nvSpPr>
        <p:spPr>
          <a:xfrm>
            <a:off x="5546303" y="1414314"/>
            <a:ext cx="3140497" cy="3032447"/>
          </a:xfrm>
          <a:prstGeom prst="rect">
            <a:avLst/>
          </a:prstGeom>
          <a:noFill/>
          <a:ln/>
        </p:spPr>
        <p:txBody>
          <a:bodyPr wrap="square" lIns="0" tIns="0" rIns="0" bIns="0" rtlCol="0" anchor="t"/>
          <a:lstStyle/>
          <a:p>
            <a:pPr algn="l" indent="0" marL="0">
              <a:lnSpc>
                <a:spcPts val="1680"/>
              </a:lnSpc>
              <a:buNone/>
            </a:pPr>
            <a:r>
              <a:rPr lang="en-US" sz="1200" b="1" spc="-11" kern="0" dirty="0">
                <a:solidFill>
                  <a:srgbClr val="5E666F"/>
                </a:solidFill>
                <a:latin typeface="Poppins" pitchFamily="34" charset="0"/>
                <a:ea typeface="Poppins" pitchFamily="34" charset="-122"/>
                <a:cs typeface="Poppins" pitchFamily="34" charset="-120"/>
              </a:rPr>
              <a:t>Design rules</a:t>
            </a:r>
            <a:endParaRPr lang="en-US" sz="1200" dirty="0"/>
          </a:p>
          <a:p>
            <a:pPr marL="228600" indent="-228600">
              <a:lnSpc>
                <a:spcPts val="1680"/>
              </a:lnSpc>
              <a:spcBef>
                <a:spcPts val="1080"/>
              </a:spcBef>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ArduPilot EKF3 holds two source sets: </a:t>
            </a:r>
            <a:pPr indent="0" marL="0">
              <a:lnSpc>
                <a:spcPts val="1680"/>
              </a:lnSpc>
              <a:spcBef>
                <a:spcPts val="1080"/>
              </a:spcBef>
              <a:spcAft>
                <a:spcPts val="480"/>
              </a:spcAft>
              <a:buNone/>
            </a:pPr>
            <a:r>
              <a:rPr lang="en-US" sz="1200" b="1" spc="-11" kern="0" dirty="0">
                <a:solidFill>
                  <a:srgbClr val="5E666F"/>
                </a:solidFill>
                <a:latin typeface="Poppins" pitchFamily="34" charset="0"/>
                <a:ea typeface="Poppins" pitchFamily="34" charset="-122"/>
                <a:cs typeface="Poppins" pitchFamily="34" charset="-120"/>
              </a:rPr>
              <a:t>GNSS</a:t>
            </a:r>
            <a:pPr indent="0" marL="0">
              <a:lnSpc>
                <a:spcPts val="1680"/>
              </a:lnSpc>
              <a:spcBef>
                <a:spcPts val="1080"/>
              </a:spcBef>
              <a:spcAft>
                <a:spcPts val="480"/>
              </a:spcAft>
              <a:buNone/>
            </a:pPr>
            <a:r>
              <a:rPr lang="en-US" sz="1200" spc="-11" kern="0" dirty="0">
                <a:solidFill>
                  <a:srgbClr val="5E666F"/>
                </a:solidFill>
                <a:latin typeface="Poppins" pitchFamily="34" charset="0"/>
                <a:ea typeface="Poppins" pitchFamily="34" charset="-122"/>
                <a:cs typeface="Poppins" pitchFamily="34" charset="-120"/>
              </a:rPr>
              <a:t> or </a:t>
            </a:r>
            <a:pPr indent="0" marL="0">
              <a:lnSpc>
                <a:spcPts val="1680"/>
              </a:lnSpc>
              <a:spcBef>
                <a:spcPts val="1080"/>
              </a:spcBef>
              <a:spcAft>
                <a:spcPts val="480"/>
              </a:spcAft>
              <a:buNone/>
            </a:pPr>
            <a:r>
              <a:rPr lang="en-US" sz="1200" b="1" spc="-11" kern="0" dirty="0">
                <a:solidFill>
                  <a:srgbClr val="5E666F"/>
                </a:solidFill>
                <a:latin typeface="Poppins" pitchFamily="34" charset="0"/>
                <a:ea typeface="Poppins" pitchFamily="34" charset="-122"/>
                <a:cs typeface="Poppins" pitchFamily="34" charset="-120"/>
              </a:rPr>
              <a:t>optical flow + LiDAR</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Jamming indicator triggers a pre-emptive switch</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Above 40 m, height comes from cold-corrected barometer and terrain model</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Surveyed landmarks reset drift</a:t>
            </a:r>
            <a:endParaRPr lang="en-US" sz="1200" dirty="0"/>
          </a:p>
          <a:p>
            <a:pPr algn="l" indent="0" marL="0">
              <a:lnSpc>
                <a:spcPts val="1680"/>
              </a:lnSpc>
              <a:spcBef>
                <a:spcPts val="240"/>
              </a:spcBef>
              <a:buNone/>
            </a:pPr>
            <a:r>
              <a:rPr lang="en-US" sz="1200" b="1" spc="-11" kern="0" dirty="0">
                <a:solidFill>
                  <a:srgbClr val="5E666F"/>
                </a:solidFill>
                <a:latin typeface="Poppins" pitchFamily="34" charset="0"/>
                <a:ea typeface="Poppins" pitchFamily="34" charset="-122"/>
                <a:cs typeface="Poppins" pitchFamily="34" charset="-120"/>
              </a:rPr>
              <a:t>Qualification:</a:t>
            </a:r>
            <a:pPr algn="l" indent="0" marL="0">
              <a:lnSpc>
                <a:spcPts val="1680"/>
              </a:lnSpc>
              <a:spcBef>
                <a:spcPts val="240"/>
              </a:spcBef>
              <a:buNone/>
            </a:pPr>
            <a:r>
              <a:rPr lang="en-US" sz="1200" spc="-11" kern="0" dirty="0">
                <a:solidFill>
                  <a:srgbClr val="5E666F"/>
                </a:solidFill>
                <a:latin typeface="Poppins" pitchFamily="34" charset="0"/>
                <a:ea typeface="Poppins" pitchFamily="34" charset="-122"/>
                <a:cs typeface="Poppins" pitchFamily="34" charset="-120"/>
              </a:rPr>
              <a:t> source switching is tested in simulation only, not flight-proven. Navigation above 40 m: next slide.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804714"/>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Above 40 m the LiDAR Cannot See the Ground, So Other Layers Take Over</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34990" y="1544464"/>
            <a:ext cx="4664566" cy="3482876"/>
          </a:xfrm>
          <a:prstGeom prst="rect">
            <a:avLst/>
          </a:prstGeom>
        </p:spPr>
      </p:pic>
      <p:sp>
        <p:nvSpPr>
          <p:cNvPr id="4" name="Text 1"/>
          <p:cNvSpPr/>
          <p:nvPr/>
        </p:nvSpPr>
        <p:spPr>
          <a:xfrm>
            <a:off x="5369421" y="1401589"/>
            <a:ext cx="3330104" cy="3225031"/>
          </a:xfrm>
          <a:prstGeom prst="rect">
            <a:avLst/>
          </a:prstGeom>
          <a:noFill/>
          <a:ln/>
        </p:spPr>
        <p:txBody>
          <a:bodyPr wrap="square" lIns="0" tIns="0" rIns="0" bIns="0" rtlCol="0" anchor="t"/>
          <a:lstStyle/>
          <a:p>
            <a:pPr algn="l" indent="0" marL="0">
              <a:lnSpc>
                <a:spcPts val="1400"/>
              </a:lnSpc>
              <a:buNone/>
            </a:pPr>
            <a:r>
              <a:rPr lang="en-US" sz="1000" b="1" spc="-11" kern="0" dirty="0">
                <a:solidFill>
                  <a:srgbClr val="5E666F"/>
                </a:solidFill>
                <a:latin typeface="Poppins" pitchFamily="34" charset="0"/>
                <a:ea typeface="Poppins" pitchFamily="34" charset="-122"/>
                <a:cs typeface="Poppins" pitchFamily="34" charset="-120"/>
              </a:rPr>
              <a:t>The gap</a:t>
            </a:r>
            <a:endParaRPr lang="en-US" sz="1000" dirty="0"/>
          </a:p>
          <a:p>
            <a:pPr marL="228600" indent="-228600">
              <a:lnSpc>
                <a:spcPts val="1400"/>
              </a:lnSpc>
              <a:spcBef>
                <a:spcPts val="899"/>
              </a:spcBef>
              <a:spcAft>
                <a:spcPts val="400"/>
              </a:spcAft>
              <a:buSzPct val="100000"/>
              <a:buChar char="•"/>
            </a:pPr>
            <a:r>
              <a:rPr lang="en-US" sz="1000" spc="-11" kern="0" dirty="0">
                <a:solidFill>
                  <a:srgbClr val="5E666F"/>
                </a:solidFill>
                <a:latin typeface="Poppins" pitchFamily="34" charset="0"/>
                <a:ea typeface="Poppins" pitchFamily="34" charset="-122"/>
                <a:cs typeface="Poppins" pitchFamily="34" charset="-120"/>
              </a:rPr>
              <a:t>TF02-Pro LiDAR reference range is </a:t>
            </a:r>
            <a:pPr indent="0" marL="0">
              <a:lnSpc>
                <a:spcPts val="1400"/>
              </a:lnSpc>
              <a:spcBef>
                <a:spcPts val="899"/>
              </a:spcBef>
              <a:spcAft>
                <a:spcPts val="400"/>
              </a:spcAft>
              <a:buNone/>
            </a:pPr>
            <a:r>
              <a:rPr lang="en-US" sz="1000" b="1" spc="-11" kern="0" dirty="0">
                <a:solidFill>
                  <a:srgbClr val="5E666F"/>
                </a:solidFill>
                <a:latin typeface="Poppins" pitchFamily="34" charset="0"/>
                <a:ea typeface="Poppins" pitchFamily="34" charset="-122"/>
                <a:cs typeface="Poppins" pitchFamily="34" charset="-120"/>
              </a:rPr>
              <a:t>40 m</a:t>
            </a:r>
            <a:endParaRPr lang="en-US" sz="1000" dirty="0"/>
          </a:p>
          <a:p>
            <a:pPr marL="228600" indent="-228600">
              <a:lnSpc>
                <a:spcPts val="1400"/>
              </a:lnSpc>
              <a:spcAft>
                <a:spcPts val="400"/>
              </a:spcAft>
              <a:buSzPct val="100000"/>
              <a:buChar char="•"/>
            </a:pPr>
            <a:r>
              <a:rPr lang="en-US" sz="1000" spc="-11" kern="0" dirty="0">
                <a:solidFill>
                  <a:srgbClr val="5E666F"/>
                </a:solidFill>
                <a:latin typeface="Poppins" pitchFamily="34" charset="0"/>
                <a:ea typeface="Poppins" pitchFamily="34" charset="-122"/>
                <a:cs typeface="Poppins" pitchFamily="34" charset="-120"/>
              </a:rPr>
              <a:t>At </a:t>
            </a:r>
            <a:pPr indent="0" marL="0">
              <a:lnSpc>
                <a:spcPts val="1400"/>
              </a:lnSpc>
              <a:spcAft>
                <a:spcPts val="400"/>
              </a:spcAft>
              <a:buNone/>
            </a:pPr>
            <a:r>
              <a:rPr lang="en-US" sz="1000" b="1" spc="-11" kern="0" dirty="0">
                <a:solidFill>
                  <a:srgbClr val="5E666F"/>
                </a:solidFill>
                <a:latin typeface="Poppins" pitchFamily="34" charset="0"/>
                <a:ea typeface="Poppins" pitchFamily="34" charset="-122"/>
                <a:cs typeface="Poppins" pitchFamily="34" charset="-120"/>
              </a:rPr>
              <a:t>105 m</a:t>
            </a:r>
            <a:pPr indent="0" marL="0">
              <a:lnSpc>
                <a:spcPts val="1400"/>
              </a:lnSpc>
              <a:spcAft>
                <a:spcPts val="400"/>
              </a:spcAft>
              <a:buNone/>
            </a:pPr>
            <a:r>
              <a:rPr lang="en-US" sz="1000" spc="-11" kern="0" dirty="0">
                <a:solidFill>
                  <a:srgbClr val="5E666F"/>
                </a:solidFill>
                <a:latin typeface="Poppins" pitchFamily="34" charset="0"/>
                <a:ea typeface="Poppins" pitchFamily="34" charset="-122"/>
                <a:cs typeface="Poppins" pitchFamily="34" charset="-120"/>
              </a:rPr>
              <a:t> transit it cannot measure terrain</a:t>
            </a:r>
            <a:endParaRPr lang="en-US" sz="1000" dirty="0"/>
          </a:p>
          <a:p>
            <a:pPr algn="l" indent="0" marL="0">
              <a:lnSpc>
                <a:spcPts val="1400"/>
              </a:lnSpc>
              <a:spcBef>
                <a:spcPts val="200"/>
              </a:spcBef>
              <a:buNone/>
            </a:pPr>
            <a:r>
              <a:rPr lang="en-US" sz="1000" b="1" spc="-11" kern="0" dirty="0">
                <a:solidFill>
                  <a:srgbClr val="5E666F"/>
                </a:solidFill>
                <a:latin typeface="Poppins" pitchFamily="34" charset="0"/>
                <a:ea typeface="Poppins" pitchFamily="34" charset="-122"/>
                <a:cs typeface="Poppins" pitchFamily="34" charset="-120"/>
              </a:rPr>
              <a:t>High-altitude layers (FIN-LAB-03 concept)</a:t>
            </a:r>
            <a:endParaRPr lang="en-US" sz="1000" dirty="0"/>
          </a:p>
          <a:p>
            <a:pPr marL="228600" indent="-228600">
              <a:lnSpc>
                <a:spcPts val="1400"/>
              </a:lnSpc>
              <a:spcBef>
                <a:spcPts val="899"/>
              </a:spcBef>
              <a:spcAft>
                <a:spcPts val="400"/>
              </a:spcAft>
              <a:buSzPct val="100000"/>
              <a:buChar char="•"/>
            </a:pPr>
            <a:r>
              <a:rPr lang="en-US" sz="1000" spc="-11" kern="0" dirty="0">
                <a:solidFill>
                  <a:srgbClr val="5E666F"/>
                </a:solidFill>
                <a:latin typeface="Poppins" pitchFamily="34" charset="0"/>
                <a:ea typeface="Poppins" pitchFamily="34" charset="-122"/>
                <a:cs typeface="Poppins" pitchFamily="34" charset="-120"/>
              </a:rPr>
              <a:t>Barometric height scaled for cold air, checked against a terrain model</a:t>
            </a:r>
            <a:endParaRPr lang="en-US" sz="1000" dirty="0"/>
          </a:p>
          <a:p>
            <a:pPr marL="228600" indent="-228600">
              <a:lnSpc>
                <a:spcPts val="1400"/>
              </a:lnSpc>
              <a:spcAft>
                <a:spcPts val="400"/>
              </a:spcAft>
              <a:buSzPct val="100000"/>
              <a:buChar char="•"/>
            </a:pPr>
            <a:r>
              <a:rPr lang="en-US" sz="1000" spc="-11" kern="0" dirty="0">
                <a:solidFill>
                  <a:srgbClr val="5E666F"/>
                </a:solidFill>
                <a:latin typeface="Poppins" pitchFamily="34" charset="0"/>
                <a:ea typeface="Poppins" pitchFamily="34" charset="-122"/>
                <a:cs typeface="Poppins" pitchFamily="34" charset="-120"/>
              </a:rPr>
              <a:t>Image odometry from the thermal and Starvis cameras</a:t>
            </a:r>
            <a:endParaRPr lang="en-US" sz="1000" dirty="0"/>
          </a:p>
          <a:p>
            <a:pPr marL="228600" indent="-228600">
              <a:lnSpc>
                <a:spcPts val="1400"/>
              </a:lnSpc>
              <a:spcAft>
                <a:spcPts val="400"/>
              </a:spcAft>
              <a:buSzPct val="100000"/>
              <a:buChar char="•"/>
            </a:pPr>
            <a:r>
              <a:rPr lang="en-US" sz="1000" spc="-11" kern="0" dirty="0">
                <a:solidFill>
                  <a:srgbClr val="5E666F"/>
                </a:solidFill>
                <a:latin typeface="Poppins" pitchFamily="34" charset="0"/>
                <a:ea typeface="Poppins" pitchFamily="34" charset="-122"/>
                <a:cs typeface="Poppins" pitchFamily="34" charset="-120"/>
              </a:rPr>
              <a:t>Watchdog for a frozen thermal shutter</a:t>
            </a:r>
            <a:endParaRPr lang="en-US" sz="1000" dirty="0"/>
          </a:p>
          <a:p>
            <a:pPr marL="228600" indent="-228600">
              <a:lnSpc>
                <a:spcPts val="1400"/>
              </a:lnSpc>
              <a:spcAft>
                <a:spcPts val="400"/>
              </a:spcAft>
              <a:buSzPct val="100000"/>
              <a:buChar char="•"/>
            </a:pPr>
            <a:r>
              <a:rPr lang="en-US" sz="1000" spc="-11" kern="0" dirty="0">
                <a:solidFill>
                  <a:srgbClr val="5E666F"/>
                </a:solidFill>
                <a:latin typeface="Poppins" pitchFamily="34" charset="0"/>
                <a:ea typeface="Poppins" pitchFamily="34" charset="-122"/>
                <a:cs typeface="Poppins" pitchFamily="34" charset="-120"/>
              </a:rPr>
              <a:t>Drift reset over surveyed huts, rivers and trail-post markers</a:t>
            </a:r>
            <a:endParaRPr lang="en-US" sz="1000" dirty="0"/>
          </a:p>
          <a:p>
            <a:pPr algn="l" indent="0" marL="0">
              <a:lnSpc>
                <a:spcPts val="1400"/>
              </a:lnSpc>
              <a:spcBef>
                <a:spcPts val="200"/>
              </a:spcBef>
              <a:buNone/>
            </a:pPr>
            <a:r>
              <a:rPr lang="en-US" sz="1000" b="1" spc="-11" kern="0" dirty="0">
                <a:solidFill>
                  <a:srgbClr val="5E666F"/>
                </a:solidFill>
                <a:latin typeface="Poppins" pitchFamily="34" charset="0"/>
                <a:ea typeface="Poppins" pitchFamily="34" charset="-122"/>
                <a:cs typeface="Poppins" pitchFamily="34" charset="-120"/>
              </a:rPr>
              <a:t>Qualification:</a:t>
            </a:r>
            <a:pPr algn="l" indent="0" marL="0">
              <a:lnSpc>
                <a:spcPts val="1400"/>
              </a:lnSpc>
              <a:spcBef>
                <a:spcPts val="200"/>
              </a:spcBef>
              <a:buNone/>
            </a:pPr>
            <a:r>
              <a:rPr lang="en-US" sz="1000" spc="-11" kern="0" dirty="0">
                <a:solidFill>
                  <a:srgbClr val="5E666F"/>
                </a:solidFill>
                <a:latin typeface="Poppins" pitchFamily="34" charset="0"/>
                <a:ea typeface="Poppins" pitchFamily="34" charset="-122"/>
                <a:cs typeface="Poppins" pitchFamily="34" charset="-120"/>
              </a:rPr>
              <a:t> simulated 30-min drift of </a:t>
            </a:r>
            <a:pPr algn="l" indent="0" marL="0">
              <a:lnSpc>
                <a:spcPts val="1400"/>
              </a:lnSpc>
              <a:spcBef>
                <a:spcPts val="200"/>
              </a:spcBef>
              <a:buNone/>
            </a:pPr>
            <a:r>
              <a:rPr lang="en-US" sz="1000" b="1" spc="-11" kern="0" dirty="0">
                <a:solidFill>
                  <a:srgbClr val="5E666F"/>
                </a:solidFill>
                <a:latin typeface="Poppins" pitchFamily="34" charset="0"/>
                <a:ea typeface="Poppins" pitchFamily="34" charset="-122"/>
                <a:cs typeface="Poppins" pitchFamily="34" charset="-120"/>
              </a:rPr>
              <a:t>20.76 m</a:t>
            </a:r>
            <a:pPr algn="l" indent="0" marL="0">
              <a:lnSpc>
                <a:spcPts val="1400"/>
              </a:lnSpc>
              <a:spcBef>
                <a:spcPts val="200"/>
              </a:spcBef>
              <a:buNone/>
            </a:pPr>
            <a:r>
              <a:rPr lang="en-US" sz="1000" spc="-11" kern="0" dirty="0">
                <a:solidFill>
                  <a:srgbClr val="5E666F"/>
                </a:solidFill>
                <a:latin typeface="Poppins" pitchFamily="34" charset="0"/>
                <a:ea typeface="Poppins" pitchFamily="34" charset="-122"/>
                <a:cs typeface="Poppins" pitchFamily="34" charset="-120"/>
              </a:rPr>
              <a:t> against a </a:t>
            </a:r>
            <a:pPr algn="l" indent="0" marL="0">
              <a:lnSpc>
                <a:spcPts val="1400"/>
              </a:lnSpc>
              <a:spcBef>
                <a:spcPts val="200"/>
              </a:spcBef>
              <a:buNone/>
            </a:pPr>
            <a:r>
              <a:rPr lang="en-US" sz="1000" b="1" spc="-11" kern="0" dirty="0">
                <a:solidFill>
                  <a:srgbClr val="5E666F"/>
                </a:solidFill>
                <a:latin typeface="Poppins" pitchFamily="34" charset="0"/>
                <a:ea typeface="Poppins" pitchFamily="34" charset="-122"/>
                <a:cs typeface="Poppins" pitchFamily="34" charset="-120"/>
              </a:rPr>
              <a:t>30 m</a:t>
            </a:r>
            <a:pPr algn="l" indent="0" marL="0">
              <a:lnSpc>
                <a:spcPts val="1400"/>
              </a:lnSpc>
              <a:spcBef>
                <a:spcPts val="200"/>
              </a:spcBef>
              <a:buNone/>
            </a:pPr>
            <a:r>
              <a:rPr lang="en-US" sz="1000" spc="-11" kern="0" dirty="0">
                <a:solidFill>
                  <a:srgbClr val="5E666F"/>
                </a:solidFill>
                <a:latin typeface="Poppins" pitchFamily="34" charset="0"/>
                <a:ea typeface="Poppins" pitchFamily="34" charset="-122"/>
                <a:cs typeface="Poppins" pitchFamily="34" charset="-120"/>
              </a:rPr>
              <a:t> pass mark. Simulation only, not flight data.</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51979"/>
          </a:xfrm>
          <a:prstGeom prst="rect">
            <a:avLst/>
          </a:prstGeom>
          <a:noFill/>
          <a:ln/>
        </p:spPr>
        <p:txBody>
          <a:bodyPr wrap="square" lIns="0" tIns="0" rIns="0" bIns="0" rtlCol="0" anchor="t"/>
          <a:lstStyle/>
          <a:p>
            <a:pPr algn="l" indent="0" marL="0">
              <a:lnSpc>
                <a:spcPts val="2772"/>
              </a:lnSpc>
              <a:buNone/>
            </a:pPr>
            <a:r>
              <a:rPr lang="en-US" sz="2310" b="1" spc="-69" kern="0" dirty="0">
                <a:solidFill>
                  <a:srgbClr val="12284C"/>
                </a:solidFill>
                <a:latin typeface="Poppins" pitchFamily="34" charset="0"/>
                <a:ea typeface="Poppins" pitchFamily="34" charset="-122"/>
                <a:cs typeface="Poppins" pitchFamily="34" charset="-120"/>
              </a:rPr>
              <a:t>Four Links, a Lost-Link Plan and Store-and-Forward</a:t>
            </a:r>
            <a:endParaRPr lang="en-US" sz="2310" dirty="0"/>
          </a:p>
        </p:txBody>
      </p:sp>
      <p:pic>
        <p:nvPicPr>
          <p:cNvPr id="3" name="Image 0" descr="Karhunkierros SAR Technical Illustration">    </p:cNvPr>
          <p:cNvPicPr>
            <a:picLocks noChangeAspect="1"/>
          </p:cNvPicPr>
          <p:nvPr/>
        </p:nvPicPr>
        <p:blipFill>
          <a:blip r:embed="rId1"/>
          <a:stretch>
            <a:fillRect/>
          </a:stretch>
        </p:blipFill>
        <p:spPr>
          <a:xfrm>
            <a:off x="544711" y="971104"/>
            <a:ext cx="8054578" cy="3417094"/>
          </a:xfrm>
          <a:prstGeom prst="rect">
            <a:avLst/>
          </a:prstGeom>
        </p:spPr>
      </p:pic>
      <p:sp>
        <p:nvSpPr>
          <p:cNvPr id="4" name="Text 1"/>
          <p:cNvSpPr/>
          <p:nvPr/>
        </p:nvSpPr>
        <p:spPr>
          <a:xfrm>
            <a:off x="381000" y="4550122"/>
            <a:ext cx="8382000" cy="186630"/>
          </a:xfrm>
          <a:prstGeom prst="rect">
            <a:avLst/>
          </a:prstGeom>
          <a:noFill/>
          <a:ln/>
        </p:spPr>
        <p:txBody>
          <a:bodyPr wrap="square" lIns="0" tIns="0" rIns="0" bIns="0" rtlCol="0" anchor="t"/>
          <a:lstStyle/>
          <a:p>
            <a:pPr algn="l" indent="0" marL="0">
              <a:lnSpc>
                <a:spcPts val="1470"/>
              </a:lnSpc>
              <a:buNone/>
            </a:pPr>
            <a:r>
              <a:rPr lang="en-US" sz="1050" i="1" spc="-11" kern="0" dirty="0">
                <a:solidFill>
                  <a:srgbClr val="5E666F"/>
                </a:solidFill>
                <a:latin typeface="Poppins" pitchFamily="34" charset="0"/>
                <a:ea typeface="Poppins" pitchFamily="34" charset="-122"/>
                <a:cs typeface="Poppins" pitchFamily="34" charset="-120"/>
              </a:rPr>
              <a:t>Resilient by design, not jam-proof. Lost-link behaviour is simulated; store-and-forward is a design concept.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804714"/>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Once Found, a Human Pilot and a Human Voice Take Over</a:t>
            </a:r>
            <a:endParaRPr lang="en-US" sz="2640" dirty="0"/>
          </a:p>
        </p:txBody>
      </p:sp>
      <p:sp>
        <p:nvSpPr>
          <p:cNvPr id="3" name="Text 1"/>
          <p:cNvSpPr/>
          <p:nvPr/>
        </p:nvSpPr>
        <p:spPr>
          <a:xfrm>
            <a:off x="449535" y="1406649"/>
            <a:ext cx="3649191" cy="3373338"/>
          </a:xfrm>
          <a:prstGeom prst="rect">
            <a:avLst/>
          </a:prstGeom>
          <a:noFill/>
          <a:ln/>
        </p:spPr>
        <p:txBody>
          <a:bodyPr wrap="square" lIns="0" tIns="0" rIns="0" bIns="0" rtlCol="0" anchor="t"/>
          <a:lstStyle/>
          <a:p>
            <a:pPr algn="l" indent="0" marL="0">
              <a:lnSpc>
                <a:spcPts val="1512"/>
              </a:lnSpc>
              <a:buNone/>
            </a:pPr>
            <a:r>
              <a:rPr lang="en-US" sz="1080" b="1" spc="-11" kern="0" dirty="0">
                <a:solidFill>
                  <a:srgbClr val="5E666F"/>
                </a:solidFill>
                <a:latin typeface="Poppins" pitchFamily="34" charset="0"/>
                <a:ea typeface="Poppins" pitchFamily="34" charset="-122"/>
                <a:cs typeface="Poppins" pitchFamily="34" charset="-120"/>
              </a:rPr>
              <a:t>Why hand over</a:t>
            </a:r>
            <a:endParaRPr lang="en-US" sz="1080" dirty="0"/>
          </a:p>
          <a:p>
            <a:pPr marL="228600" indent="-228600">
              <a:lnSpc>
                <a:spcPts val="1512"/>
              </a:lnSpc>
              <a:spcBef>
                <a:spcPts val="971"/>
              </a:spcBef>
              <a:spcAft>
                <a:spcPts val="432"/>
              </a:spcAft>
              <a:buSzPct val="100000"/>
              <a:buChar char="•"/>
            </a:pPr>
            <a:r>
              <a:rPr lang="en-US" sz="1080" spc="-11" kern="0" dirty="0">
                <a:solidFill>
                  <a:srgbClr val="5E666F"/>
                </a:solidFill>
                <a:latin typeface="Poppins" pitchFamily="34" charset="0"/>
                <a:ea typeface="Poppins" pitchFamily="34" charset="-122"/>
                <a:cs typeface="Poppins" pitchFamily="34" charset="-120"/>
              </a:rPr>
              <a:t>Close-in obstacles in the dark need human judgement</a:t>
            </a:r>
            <a:endParaRPr lang="en-US" sz="1080" dirty="0"/>
          </a:p>
          <a:p>
            <a:pPr marL="228600" indent="-228600">
              <a:lnSpc>
                <a:spcPts val="1512"/>
              </a:lnSpc>
              <a:spcAft>
                <a:spcPts val="432"/>
              </a:spcAft>
              <a:buSzPct val="100000"/>
              <a:buChar char="•"/>
            </a:pPr>
            <a:r>
              <a:rPr lang="en-US" sz="1080" spc="-11" kern="0" dirty="0">
                <a:solidFill>
                  <a:srgbClr val="5E666F"/>
                </a:solidFill>
                <a:latin typeface="Poppins" pitchFamily="34" charset="0"/>
                <a:ea typeface="Poppins" pitchFamily="34" charset="-122"/>
                <a:cs typeface="Poppins" pitchFamily="34" charset="-120"/>
              </a:rPr>
              <a:t>A frightened person trusts a named rescuer more than a silent robot</a:t>
            </a:r>
            <a:endParaRPr lang="en-US" sz="1080" dirty="0"/>
          </a:p>
          <a:p>
            <a:pPr algn="l" indent="0" marL="0">
              <a:lnSpc>
                <a:spcPts val="1512"/>
              </a:lnSpc>
              <a:spcBef>
                <a:spcPts val="216"/>
              </a:spcBef>
              <a:buNone/>
            </a:pPr>
            <a:r>
              <a:rPr lang="en-US" sz="1080" b="1" spc="-11" kern="0" dirty="0">
                <a:solidFill>
                  <a:srgbClr val="5E666F"/>
                </a:solidFill>
                <a:latin typeface="Poppins" pitchFamily="34" charset="0"/>
                <a:ea typeface="Poppins" pitchFamily="34" charset="-122"/>
                <a:cs typeface="Poppins" pitchFamily="34" charset="-120"/>
              </a:rPr>
              <a:t>Pilot controls</a:t>
            </a:r>
            <a:endParaRPr lang="en-US" sz="1080" dirty="0"/>
          </a:p>
          <a:p>
            <a:pPr marL="228600" indent="-228600">
              <a:lnSpc>
                <a:spcPts val="1512"/>
              </a:lnSpc>
              <a:spcBef>
                <a:spcPts val="971"/>
              </a:spcBef>
              <a:spcAft>
                <a:spcPts val="432"/>
              </a:spcAft>
              <a:buSzPct val="100000"/>
              <a:buChar char="•"/>
            </a:pPr>
            <a:r>
              <a:rPr lang="en-US" sz="1080" spc="-11" kern="0" dirty="0">
                <a:solidFill>
                  <a:srgbClr val="5E666F"/>
                </a:solidFill>
                <a:latin typeface="Poppins" pitchFamily="34" charset="0"/>
                <a:ea typeface="Poppins" pitchFamily="34" charset="-122"/>
                <a:cs typeface="Poppins" pitchFamily="34" charset="-120"/>
              </a:rPr>
              <a:t>Hold at </a:t>
            </a:r>
            <a:pPr indent="0" marL="0">
              <a:lnSpc>
                <a:spcPts val="1512"/>
              </a:lnSpc>
              <a:spcBef>
                <a:spcPts val="971"/>
              </a:spcBef>
              <a:spcAft>
                <a:spcPts val="432"/>
              </a:spcAft>
              <a:buNone/>
            </a:pPr>
            <a:r>
              <a:rPr lang="en-US" sz="1080" b="1" spc="-11" kern="0" dirty="0">
                <a:solidFill>
                  <a:srgbClr val="5E666F"/>
                </a:solidFill>
                <a:latin typeface="Poppins" pitchFamily="34" charset="0"/>
                <a:ea typeface="Poppins" pitchFamily="34" charset="-122"/>
                <a:cs typeface="Poppins" pitchFamily="34" charset="-120"/>
              </a:rPr>
              <a:t>35 m AGL / 25 m</a:t>
            </a:r>
            <a:pPr indent="0" marL="0">
              <a:lnSpc>
                <a:spcPts val="1512"/>
              </a:lnSpc>
              <a:spcBef>
                <a:spcPts val="971"/>
              </a:spcBef>
              <a:spcAft>
                <a:spcPts val="432"/>
              </a:spcAft>
              <a:buNone/>
            </a:pPr>
            <a:r>
              <a:rPr lang="en-US" sz="1080" spc="-11" kern="0" dirty="0">
                <a:solidFill>
                  <a:srgbClr val="5E666F"/>
                </a:solidFill>
                <a:latin typeface="Poppins" pitchFamily="34" charset="0"/>
                <a:ea typeface="Poppins" pitchFamily="34" charset="-122"/>
                <a:cs typeface="Poppins" pitchFamily="34" charset="-120"/>
              </a:rPr>
              <a:t> offset</a:t>
            </a:r>
            <a:endParaRPr lang="en-US" sz="1080" dirty="0"/>
          </a:p>
          <a:p>
            <a:pPr marL="228600" indent="-228600">
              <a:lnSpc>
                <a:spcPts val="1512"/>
              </a:lnSpc>
              <a:spcAft>
                <a:spcPts val="432"/>
              </a:spcAft>
              <a:buSzPct val="100000"/>
              <a:buChar char="•"/>
            </a:pPr>
            <a:r>
              <a:rPr lang="en-US" sz="1080" spc="-11" kern="0" dirty="0">
                <a:solidFill>
                  <a:srgbClr val="5E666F"/>
                </a:solidFill>
                <a:latin typeface="Poppins" pitchFamily="34" charset="0"/>
                <a:ea typeface="Poppins" pitchFamily="34" charset="-122"/>
                <a:cs typeface="Poppins" pitchFamily="34" charset="-120"/>
              </a:rPr>
              <a:t>Remote nudges or handheld RC (LOITER, GUIDED, RTL)</a:t>
            </a:r>
            <a:endParaRPr lang="en-US" sz="1080" dirty="0"/>
          </a:p>
          <a:p>
            <a:pPr marL="228600" indent="-228600">
              <a:lnSpc>
                <a:spcPts val="1512"/>
              </a:lnSpc>
              <a:spcAft>
                <a:spcPts val="432"/>
              </a:spcAft>
              <a:buSzPct val="100000"/>
              <a:buChar char="•"/>
            </a:pPr>
            <a:r>
              <a:rPr lang="en-US" sz="1080" spc="-11" kern="0" dirty="0">
                <a:solidFill>
                  <a:srgbClr val="5E666F"/>
                </a:solidFill>
                <a:latin typeface="Poppins" pitchFamily="34" charset="0"/>
                <a:ea typeface="Poppins" pitchFamily="34" charset="-122"/>
                <a:cs typeface="Poppins" pitchFamily="34" charset="-120"/>
              </a:rPr>
              <a:t>15 m standoff and 6 m LiDAR floor stay enforced</a:t>
            </a:r>
            <a:endParaRPr lang="en-US" sz="1080" dirty="0"/>
          </a:p>
          <a:p>
            <a:pPr algn="l" indent="0" marL="0">
              <a:lnSpc>
                <a:spcPts val="1512"/>
              </a:lnSpc>
              <a:spcBef>
                <a:spcPts val="216"/>
              </a:spcBef>
              <a:buNone/>
            </a:pPr>
            <a:r>
              <a:rPr lang="en-US" sz="1080" b="1" spc="-11" kern="0" dirty="0">
                <a:solidFill>
                  <a:srgbClr val="5E666F"/>
                </a:solidFill>
                <a:latin typeface="Poppins" pitchFamily="34" charset="0"/>
                <a:ea typeface="Poppins" pitchFamily="34" charset="-122"/>
                <a:cs typeface="Poppins" pitchFamily="34" charset="-120"/>
              </a:rPr>
              <a:t>Three ways the hiker is heard:</a:t>
            </a:r>
            <a:pPr algn="l" indent="0" marL="0">
              <a:lnSpc>
                <a:spcPts val="1512"/>
              </a:lnSpc>
              <a:spcBef>
                <a:spcPts val="216"/>
              </a:spcBef>
              <a:buNone/>
            </a:pPr>
            <a:r>
              <a:rPr lang="en-US" sz="1080" spc="-11" kern="0" dirty="0">
                <a:solidFill>
                  <a:srgbClr val="5E666F"/>
                </a:solidFill>
                <a:latin typeface="Poppins" pitchFamily="34" charset="0"/>
                <a:ea typeface="Poppins" pitchFamily="34" charset="-122"/>
                <a:cs typeface="Poppins" pitchFamily="34" charset="-120"/>
              </a:rPr>
              <a:t> airborne listening, landed speakerphone, collar mic from the cask</a:t>
            </a:r>
            <a:endParaRPr lang="en-US" sz="1080" dirty="0"/>
          </a:p>
          <a:p>
            <a:pPr algn="l" indent="0" marL="0">
              <a:lnSpc>
                <a:spcPts val="1512"/>
              </a:lnSpc>
              <a:spcBef>
                <a:spcPts val="432"/>
              </a:spcBef>
              <a:buNone/>
            </a:pPr>
            <a:r>
              <a:rPr lang="en-US" sz="1080" i="1" spc="-11" kern="0" dirty="0">
                <a:solidFill>
                  <a:srgbClr val="5E666F"/>
                </a:solidFill>
                <a:latin typeface="Poppins" pitchFamily="34" charset="0"/>
                <a:ea typeface="Poppins" pitchFamily="34" charset="-122"/>
                <a:cs typeface="Poppins" pitchFamily="34" charset="-120"/>
              </a:rPr>
              <a:t>Voice levels are modeled, not measured.</a:t>
            </a:r>
            <a:endParaRPr lang="en-US" sz="1080" dirty="0"/>
          </a:p>
        </p:txBody>
      </p:sp>
      <p:pic>
        <p:nvPicPr>
          <p:cNvPr id="4" name="Image 0" descr="Karhunkierros SAR Technical Illustration">    </p:cNvPr>
          <p:cNvPicPr>
            <a:picLocks noChangeAspect="1"/>
          </p:cNvPicPr>
          <p:nvPr/>
        </p:nvPicPr>
        <p:blipFill>
          <a:blip r:embed="rId1"/>
          <a:stretch>
            <a:fillRect/>
          </a:stretch>
        </p:blipFill>
        <p:spPr>
          <a:xfrm>
            <a:off x="4373639" y="1544464"/>
            <a:ext cx="4335383" cy="323708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804714"/>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The Rescue Cask: Warmth, Comfort and a Voice Link</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34984" y="1544464"/>
            <a:ext cx="4499825" cy="3359869"/>
          </a:xfrm>
          <a:prstGeom prst="rect">
            <a:avLst/>
          </a:prstGeom>
        </p:spPr>
      </p:pic>
      <p:sp>
        <p:nvSpPr>
          <p:cNvPr id="4" name="Text 1"/>
          <p:cNvSpPr/>
          <p:nvPr/>
        </p:nvSpPr>
        <p:spPr>
          <a:xfrm>
            <a:off x="5214193" y="1411114"/>
            <a:ext cx="3475806" cy="3242146"/>
          </a:xfrm>
          <a:prstGeom prst="rect">
            <a:avLst/>
          </a:prstGeom>
          <a:noFill/>
          <a:ln/>
        </p:spPr>
        <p:txBody>
          <a:bodyPr wrap="square" lIns="0" tIns="0" rIns="0" bIns="0" rtlCol="0" anchor="t"/>
          <a:lstStyle/>
          <a:p>
            <a:pPr algn="l" indent="0" marL="0">
              <a:lnSpc>
                <a:spcPts val="1610"/>
              </a:lnSpc>
              <a:buNone/>
            </a:pPr>
            <a:r>
              <a:rPr lang="en-US" sz="1150" b="1" spc="-11" kern="0" dirty="0">
                <a:solidFill>
                  <a:srgbClr val="5E666F"/>
                </a:solidFill>
                <a:latin typeface="Poppins" pitchFamily="34" charset="0"/>
                <a:ea typeface="Poppins" pitchFamily="34" charset="-122"/>
                <a:cs typeface="Poppins" pitchFamily="34" charset="-120"/>
              </a:rPr>
              <a:t>Delivery rules</a:t>
            </a:r>
            <a:endParaRPr lang="en-US" sz="1150" dirty="0"/>
          </a:p>
          <a:p>
            <a:pPr marL="228600" indent="-228600">
              <a:lnSpc>
                <a:spcPts val="1610"/>
              </a:lnSpc>
              <a:spcBef>
                <a:spcPts val="1035"/>
              </a:spcBef>
              <a:spcAft>
                <a:spcPts val="460"/>
              </a:spcAft>
              <a:buSzPct val="100000"/>
              <a:buChar char="•"/>
            </a:pPr>
            <a:r>
              <a:rPr lang="en-US" sz="1150" spc="-11" kern="0" dirty="0">
                <a:solidFill>
                  <a:srgbClr val="5E666F"/>
                </a:solidFill>
                <a:latin typeface="Poppins" pitchFamily="34" charset="0"/>
                <a:ea typeface="Poppins" pitchFamily="34" charset="-122"/>
                <a:cs typeface="Poppins" pitchFamily="34" charset="-120"/>
              </a:rPr>
              <a:t>Lowered onto clear snow </a:t>
            </a:r>
            <a:pPr indent="0" marL="0">
              <a:lnSpc>
                <a:spcPts val="1610"/>
              </a:lnSpc>
              <a:spcBef>
                <a:spcPts val="1035"/>
              </a:spcBef>
              <a:spcAft>
                <a:spcPts val="460"/>
              </a:spcAft>
              <a:buNone/>
            </a:pPr>
            <a:r>
              <a:rPr lang="en-US" sz="1150" b="1" spc="-11" kern="0" dirty="0">
                <a:solidFill>
                  <a:srgbClr val="5E666F"/>
                </a:solidFill>
                <a:latin typeface="Poppins" pitchFamily="34" charset="0"/>
                <a:ea typeface="Poppins" pitchFamily="34" charset="-122"/>
                <a:cs typeface="Poppins" pitchFamily="34" charset="-120"/>
              </a:rPr>
              <a:t>15 m</a:t>
            </a:r>
            <a:pPr indent="0" marL="0">
              <a:lnSpc>
                <a:spcPts val="1610"/>
              </a:lnSpc>
              <a:spcBef>
                <a:spcPts val="1035"/>
              </a:spcBef>
              <a:spcAft>
                <a:spcPts val="460"/>
              </a:spcAft>
              <a:buNone/>
            </a:pPr>
            <a:r>
              <a:rPr lang="en-US" sz="1150" spc="-11" kern="0" dirty="0">
                <a:solidFill>
                  <a:srgbClr val="5E666F"/>
                </a:solidFill>
                <a:latin typeface="Poppins" pitchFamily="34" charset="0"/>
                <a:ea typeface="Poppins" pitchFamily="34" charset="-122"/>
                <a:cs typeface="Poppins" pitchFamily="34" charset="-120"/>
              </a:rPr>
              <a:t> from the person, never overhead</a:t>
            </a:r>
            <a:endParaRPr lang="en-US" sz="1150" dirty="0"/>
          </a:p>
          <a:p>
            <a:pPr marL="228600" indent="-228600">
              <a:lnSpc>
                <a:spcPts val="1610"/>
              </a:lnSpc>
              <a:spcAft>
                <a:spcPts val="460"/>
              </a:spcAft>
              <a:buSzPct val="100000"/>
              <a:buChar char="•"/>
            </a:pPr>
            <a:r>
              <a:rPr lang="en-US" sz="1150" b="1" spc="-11" kern="0" dirty="0">
                <a:solidFill>
                  <a:srgbClr val="5E666F"/>
                </a:solidFill>
                <a:latin typeface="Poppins" pitchFamily="34" charset="0"/>
                <a:ea typeface="Poppins" pitchFamily="34" charset="-122"/>
                <a:cs typeface="Poppins" pitchFamily="34" charset="-120"/>
              </a:rPr>
              <a:t>25 N</a:t>
            </a:r>
            <a:pPr indent="0" marL="0">
              <a:lnSpc>
                <a:spcPts val="1610"/>
              </a:lnSpc>
              <a:spcAft>
                <a:spcPts val="460"/>
              </a:spcAft>
              <a:buNone/>
            </a:pPr>
            <a:r>
              <a:rPr lang="en-US" sz="1150" spc="-11" kern="0" dirty="0">
                <a:solidFill>
                  <a:srgbClr val="5E666F"/>
                </a:solidFill>
                <a:latin typeface="Poppins" pitchFamily="34" charset="0"/>
                <a:ea typeface="Poppins" pitchFamily="34" charset="-122"/>
                <a:cs typeface="Poppins" pitchFamily="34" charset="-120"/>
              </a:rPr>
              <a:t> breakaway: a snagged line cannot pull the drone down</a:t>
            </a:r>
            <a:endParaRPr lang="en-US" sz="1150" dirty="0"/>
          </a:p>
          <a:p>
            <a:pPr marL="228600" indent="-228600">
              <a:lnSpc>
                <a:spcPts val="1610"/>
              </a:lnSpc>
              <a:spcAft>
                <a:spcPts val="460"/>
              </a:spcAft>
              <a:buSzPct val="100000"/>
              <a:buChar char="•"/>
            </a:pPr>
            <a:r>
              <a:rPr lang="en-US" sz="1150" spc="-11" kern="0" dirty="0">
                <a:solidFill>
                  <a:srgbClr val="5E666F"/>
                </a:solidFill>
                <a:latin typeface="Poppins" pitchFamily="34" charset="0"/>
                <a:ea typeface="Poppins" pitchFamily="34" charset="-122"/>
                <a:cs typeface="Poppins" pitchFamily="34" charset="-120"/>
              </a:rPr>
              <a:t>Drone climbs to </a:t>
            </a:r>
            <a:pPr indent="0" marL="0">
              <a:lnSpc>
                <a:spcPts val="1610"/>
              </a:lnSpc>
              <a:spcAft>
                <a:spcPts val="460"/>
              </a:spcAft>
              <a:buNone/>
            </a:pPr>
            <a:r>
              <a:rPr lang="en-US" sz="1150" b="1" spc="-11" kern="0" dirty="0">
                <a:solidFill>
                  <a:srgbClr val="5E666F"/>
                </a:solidFill>
                <a:latin typeface="Poppins" pitchFamily="34" charset="0"/>
                <a:ea typeface="Poppins" pitchFamily="34" charset="-122"/>
                <a:cs typeface="Poppins" pitchFamily="34" charset="-120"/>
              </a:rPr>
              <a:t>50 m</a:t>
            </a:r>
            <a:pPr indent="0" marL="0">
              <a:lnSpc>
                <a:spcPts val="1610"/>
              </a:lnSpc>
              <a:spcAft>
                <a:spcPts val="460"/>
              </a:spcAft>
              <a:buNone/>
            </a:pPr>
            <a:r>
              <a:rPr lang="en-US" sz="1150" spc="-11" kern="0" dirty="0">
                <a:solidFill>
                  <a:srgbClr val="5E666F"/>
                </a:solidFill>
                <a:latin typeface="Poppins" pitchFamily="34" charset="0"/>
                <a:ea typeface="Poppins" pitchFamily="34" charset="-122"/>
                <a:cs typeface="Poppins" pitchFamily="34" charset="-120"/>
              </a:rPr>
              <a:t> before it speaks</a:t>
            </a:r>
            <a:endParaRPr lang="en-US" sz="1150" dirty="0"/>
          </a:p>
          <a:p>
            <a:pPr algn="l" indent="0" marL="0">
              <a:lnSpc>
                <a:spcPts val="1610"/>
              </a:lnSpc>
              <a:spcBef>
                <a:spcPts val="230"/>
              </a:spcBef>
              <a:buNone/>
            </a:pPr>
            <a:r>
              <a:rPr lang="en-US" sz="1150" b="1" spc="-11" kern="0" dirty="0">
                <a:solidFill>
                  <a:srgbClr val="5E666F"/>
                </a:solidFill>
                <a:latin typeface="Poppins" pitchFamily="34" charset="0"/>
                <a:ea typeface="Poppins" pitchFamily="34" charset="-122"/>
                <a:cs typeface="Poppins" pitchFamily="34" charset="-120"/>
              </a:rPr>
              <a:t>Public specification</a:t>
            </a:r>
            <a:endParaRPr lang="en-US" sz="1150" dirty="0"/>
          </a:p>
          <a:p>
            <a:pPr marL="228600" indent="-228600">
              <a:lnSpc>
                <a:spcPts val="1610"/>
              </a:lnSpc>
              <a:spcBef>
                <a:spcPts val="1035"/>
              </a:spcBef>
              <a:spcAft>
                <a:spcPts val="460"/>
              </a:spcAft>
              <a:buSzPct val="100000"/>
              <a:buChar char="•"/>
            </a:pPr>
            <a:r>
              <a:rPr lang="en-US" sz="1150" spc="-11" kern="0" dirty="0">
                <a:solidFill>
                  <a:srgbClr val="5E666F"/>
                </a:solidFill>
                <a:latin typeface="Poppins" pitchFamily="34" charset="0"/>
                <a:ea typeface="Poppins" pitchFamily="34" charset="-122"/>
                <a:cs typeface="Poppins" pitchFamily="34" charset="-120"/>
              </a:rPr>
              <a:t>Comfort items only, alcohol-free</a:t>
            </a:r>
            <a:endParaRPr lang="en-US" sz="1150" dirty="0"/>
          </a:p>
          <a:p>
            <a:pPr marL="228600" indent="-228600">
              <a:lnSpc>
                <a:spcPts val="1610"/>
              </a:lnSpc>
              <a:spcAft>
                <a:spcPts val="460"/>
              </a:spcAft>
              <a:buSzPct val="100000"/>
              <a:buChar char="•"/>
            </a:pPr>
            <a:r>
              <a:rPr lang="en-US" sz="1150" spc="-11" kern="0" dirty="0">
                <a:solidFill>
                  <a:srgbClr val="5E666F"/>
                </a:solidFill>
                <a:latin typeface="Poppins" pitchFamily="34" charset="0"/>
                <a:ea typeface="Poppins" pitchFamily="34" charset="-122"/>
                <a:cs typeface="Poppins" pitchFamily="34" charset="-120"/>
              </a:rPr>
              <a:t>Collar mic lets the hiker talk back</a:t>
            </a:r>
            <a:endParaRPr lang="en-US" sz="1150" dirty="0"/>
          </a:p>
          <a:p>
            <a:pPr algn="l" indent="0" marL="0">
              <a:lnSpc>
                <a:spcPts val="1610"/>
              </a:lnSpc>
              <a:spcBef>
                <a:spcPts val="230"/>
              </a:spcBef>
              <a:buNone/>
            </a:pPr>
            <a:r>
              <a:rPr lang="en-US" sz="1150" b="1" spc="-11" kern="0" dirty="0">
                <a:solidFill>
                  <a:srgbClr val="5E666F"/>
                </a:solidFill>
                <a:latin typeface="Poppins" pitchFamily="34" charset="0"/>
                <a:ea typeface="Poppins" pitchFamily="34" charset="-122"/>
                <a:cs typeface="Poppins" pitchFamily="34" charset="-120"/>
              </a:rPr>
              <a:t>Qualification:</a:t>
            </a:r>
            <a:pPr algn="l" indent="0" marL="0">
              <a:lnSpc>
                <a:spcPts val="1610"/>
              </a:lnSpc>
              <a:spcBef>
                <a:spcPts val="230"/>
              </a:spcBef>
              <a:buNone/>
            </a:pPr>
            <a:r>
              <a:rPr lang="en-US" sz="1150" spc="-11" kern="0" dirty="0">
                <a:solidFill>
                  <a:srgbClr val="5E666F"/>
                </a:solidFill>
                <a:latin typeface="Poppins" pitchFamily="34" charset="0"/>
                <a:ea typeface="Poppins" pitchFamily="34" charset="-122"/>
                <a:cs typeface="Poppins" pitchFamily="34" charset="-120"/>
              </a:rPr>
              <a:t> design targets. No medical treatment instructions and no claim about survival time.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01675"/>
          </a:xfrm>
          <a:prstGeom prst="rect">
            <a:avLst/>
          </a:prstGeom>
          <a:noFill/>
          <a:ln/>
        </p:spPr>
        <p:txBody>
          <a:bodyPr wrap="square" lIns="0" tIns="0" rIns="0" bIns="0" rtlCol="0" anchor="t"/>
          <a:lstStyle/>
          <a:p>
            <a:pPr algn="l" indent="0" marL="0">
              <a:lnSpc>
                <a:spcPts val="2376"/>
              </a:lnSpc>
              <a:buNone/>
            </a:pPr>
            <a:r>
              <a:rPr lang="en-US" sz="1980" b="1" spc="-59" kern="0" dirty="0">
                <a:solidFill>
                  <a:srgbClr val="12284C"/>
                </a:solidFill>
                <a:latin typeface="Poppins" pitchFamily="34" charset="0"/>
                <a:ea typeface="Poppins" pitchFamily="34" charset="-122"/>
                <a:cs typeface="Poppins" pitchFamily="34" charset="-120"/>
              </a:rPr>
              <a:t>Opaslyhty: Leading the Hiker to the Hut With Light</a:t>
            </a:r>
            <a:endParaRPr lang="en-US" sz="1980" dirty="0"/>
          </a:p>
        </p:txBody>
      </p:sp>
      <p:pic>
        <p:nvPicPr>
          <p:cNvPr id="3" name="Image 0" descr="Karhunkierros SAR Technical Illustration">    </p:cNvPr>
          <p:cNvPicPr>
            <a:picLocks noChangeAspect="1"/>
          </p:cNvPicPr>
          <p:nvPr/>
        </p:nvPicPr>
        <p:blipFill>
          <a:blip r:embed="rId1"/>
          <a:stretch>
            <a:fillRect/>
          </a:stretch>
        </p:blipFill>
        <p:spPr>
          <a:xfrm>
            <a:off x="659864" y="920800"/>
            <a:ext cx="7824272" cy="3319388"/>
          </a:xfrm>
          <a:prstGeom prst="rect">
            <a:avLst/>
          </a:prstGeom>
        </p:spPr>
      </p:pic>
      <p:sp>
        <p:nvSpPr>
          <p:cNvPr id="4" name="Text 1"/>
          <p:cNvSpPr/>
          <p:nvPr/>
        </p:nvSpPr>
        <p:spPr>
          <a:xfrm>
            <a:off x="381000" y="4402113"/>
            <a:ext cx="8382000" cy="319980"/>
          </a:xfrm>
          <a:prstGeom prst="rect">
            <a:avLst/>
          </a:prstGeom>
          <a:noFill/>
          <a:ln/>
        </p:spPr>
        <p:txBody>
          <a:bodyPr wrap="square" lIns="0" tIns="0" rIns="0" bIns="0" rtlCol="0" anchor="t"/>
          <a:lstStyle/>
          <a:p>
            <a:pPr algn="l" indent="0" marL="0">
              <a:lnSpc>
                <a:spcPts val="1260"/>
              </a:lnSpc>
              <a:buNone/>
            </a:pPr>
            <a:r>
              <a:rPr lang="en-US" sz="900" i="1" spc="-11" kern="0" dirty="0">
                <a:solidFill>
                  <a:srgbClr val="5E666F"/>
                </a:solidFill>
                <a:latin typeface="Poppins" pitchFamily="34" charset="0"/>
                <a:ea typeface="Poppins" pitchFamily="34" charset="-122"/>
                <a:cs typeface="Poppins" pitchFamily="34" charset="-120"/>
              </a:rPr>
              <a:t>28 m AGL is measured from the ground, not from the tree crowns; canopy clearance must be validated locally. The ≥15 m horizontal standoff is a design constraint, not certified safety.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663773"/>
          </a:xfrm>
          <a:prstGeom prst="rect">
            <a:avLst/>
          </a:prstGeom>
          <a:noFill/>
          <a:ln/>
        </p:spPr>
        <p:txBody>
          <a:bodyPr wrap="square" lIns="0" tIns="0" rIns="0" bIns="0" rtlCol="0" anchor="t"/>
          <a:lstStyle/>
          <a:p>
            <a:pPr algn="l" indent="0" marL="0">
              <a:lnSpc>
                <a:spcPts val="2614"/>
              </a:lnSpc>
              <a:buNone/>
            </a:pPr>
            <a:r>
              <a:rPr lang="en-US" sz="2178" b="1" spc="-65" kern="0" dirty="0">
                <a:solidFill>
                  <a:srgbClr val="12284C"/>
                </a:solidFill>
                <a:latin typeface="Poppins" pitchFamily="34" charset="0"/>
                <a:ea typeface="Poppins" pitchFamily="34" charset="-122"/>
                <a:cs typeface="Poppins" pitchFamily="34" charset="-120"/>
              </a:rPr>
              <a:t>Two Branches After Contact: Walk to the Hut, or Shelter in Place</a:t>
            </a:r>
            <a:endParaRPr lang="en-US" sz="2178" dirty="0"/>
          </a:p>
        </p:txBody>
      </p:sp>
      <p:pic>
        <p:nvPicPr>
          <p:cNvPr id="3" name="Image 0" descr="Karhunkierros SAR Technical Illustration">    </p:cNvPr>
          <p:cNvPicPr>
            <a:picLocks noChangeAspect="1"/>
          </p:cNvPicPr>
          <p:nvPr/>
        </p:nvPicPr>
        <p:blipFill>
          <a:blip r:embed="rId1"/>
          <a:stretch>
            <a:fillRect/>
          </a:stretch>
        </p:blipFill>
        <p:spPr>
          <a:xfrm>
            <a:off x="659864" y="1282898"/>
            <a:ext cx="7824272" cy="3319388"/>
          </a:xfrm>
          <a:prstGeom prst="rect">
            <a:avLst/>
          </a:prstGeom>
        </p:spPr>
      </p:pic>
      <p:sp>
        <p:nvSpPr>
          <p:cNvPr id="4" name="Text 1"/>
          <p:cNvSpPr/>
          <p:nvPr/>
        </p:nvSpPr>
        <p:spPr>
          <a:xfrm>
            <a:off x="381000" y="4764212"/>
            <a:ext cx="8382000" cy="176064"/>
          </a:xfrm>
          <a:prstGeom prst="rect">
            <a:avLst/>
          </a:prstGeom>
          <a:noFill/>
          <a:ln/>
        </p:spPr>
        <p:txBody>
          <a:bodyPr wrap="square" lIns="0" tIns="0" rIns="0" bIns="0" rtlCol="0" anchor="t"/>
          <a:lstStyle/>
          <a:p>
            <a:pPr algn="l" indent="0" marL="0">
              <a:lnSpc>
                <a:spcPts val="1386"/>
              </a:lnSpc>
              <a:buNone/>
            </a:pPr>
            <a:r>
              <a:rPr lang="en-US" sz="990" i="1" spc="-11" kern="0" dirty="0">
                <a:solidFill>
                  <a:srgbClr val="5E666F"/>
                </a:solidFill>
                <a:latin typeface="Poppins" pitchFamily="34" charset="0"/>
                <a:ea typeface="Poppins" pitchFamily="34" charset="-122"/>
                <a:cs typeface="Poppins" pitchFamily="34" charset="-120"/>
              </a:rPr>
              <a:t>Thresholds are design values tested in simulation; the 18+ h beacon is a planning estimate.</a:t>
            </a:r>
            <a:endParaRPr lang="en-US" sz="99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804714"/>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Relief Before Reserve: Keeping a Drone Over the Hiker</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34965" y="1544464"/>
            <a:ext cx="4664466" cy="3482801"/>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375597" y="1508820"/>
          <a:ext cx="3317602" cy="914400"/>
        </p:xfrm>
        <a:graphic>
          <a:graphicData uri="http://schemas.openxmlformats.org/drawingml/2006/table">
            <a:tbl>
              <a:tblPr/>
              <a:tblGrid>
                <a:gridCol w="1658764"/>
                <a:gridCol w="1658838"/>
              </a:tblGrid>
              <a:tr h="0">
                <a:tc>
                  <a:txBody>
                    <a:bodyPr/>
                    <a:lstStyle/>
                    <a:p>
                      <a:pPr algn="l" indent="0" marL="0">
                        <a:buNone/>
                      </a:pPr>
                      <a:r>
                        <a:rPr lang="en-US" sz="990" b="1" dirty="0">
                          <a:solidFill>
                            <a:srgbClr val="444444"/>
                          </a:solidFill>
                          <a:latin typeface="Arial" pitchFamily="34" charset="0"/>
                          <a:ea typeface="Arial" pitchFamily="34" charset="-122"/>
                          <a:cs typeface="Arial" pitchFamily="34" charset="-120"/>
                        </a:rPr>
                        <a:t>Air temperature</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990" b="1" dirty="0">
                          <a:solidFill>
                            <a:srgbClr val="444444"/>
                          </a:solidFill>
                          <a:latin typeface="Arial" pitchFamily="34" charset="0"/>
                          <a:ea typeface="Arial" pitchFamily="34" charset="-122"/>
                          <a:cs typeface="Arial" pitchFamily="34" charset="-120"/>
                        </a:rPr>
                        <a:t>Return reserve</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r>
              <a:tr h="0">
                <a:tc>
                  <a:txBody>
                    <a:bodyPr/>
                    <a:lstStyle/>
                    <a:p>
                      <a:pPr algn="l" indent="0" marL="0">
                        <a:buNone/>
                      </a:pPr>
                      <a:r>
                        <a:rPr lang="en-US" sz="990" dirty="0">
                          <a:solidFill>
                            <a:srgbClr val="444444"/>
                          </a:solidFill>
                          <a:latin typeface="Arial" pitchFamily="34" charset="0"/>
                          <a:ea typeface="Arial" pitchFamily="34" charset="-122"/>
                          <a:cs typeface="Arial" pitchFamily="34" charset="-120"/>
                        </a:rPr>
                        <a:t>≥ 0 °C</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90" dirty="0">
                          <a:solidFill>
                            <a:srgbClr val="444444"/>
                          </a:solidFill>
                          <a:latin typeface="Arial" pitchFamily="34" charset="0"/>
                          <a:ea typeface="Arial" pitchFamily="34" charset="-122"/>
                          <a:cs typeface="Arial" pitchFamily="34" charset="-120"/>
                        </a:rPr>
                        <a:t>30%</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990" dirty="0">
                          <a:solidFill>
                            <a:srgbClr val="444444"/>
                          </a:solidFill>
                          <a:latin typeface="Arial" pitchFamily="34" charset="0"/>
                          <a:ea typeface="Arial" pitchFamily="34" charset="-122"/>
                          <a:cs typeface="Arial" pitchFamily="34" charset="-120"/>
                        </a:rPr>
                        <a:t>≤ −15 °C</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90" dirty="0">
                          <a:solidFill>
                            <a:srgbClr val="444444"/>
                          </a:solidFill>
                          <a:latin typeface="Arial" pitchFamily="34" charset="0"/>
                          <a:ea typeface="Arial" pitchFamily="34" charset="-122"/>
                          <a:cs typeface="Arial" pitchFamily="34" charset="-120"/>
                        </a:rPr>
                        <a:t>40%</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990" dirty="0">
                          <a:solidFill>
                            <a:srgbClr val="444444"/>
                          </a:solidFill>
                          <a:latin typeface="Arial" pitchFamily="34" charset="0"/>
                          <a:ea typeface="Arial" pitchFamily="34" charset="-122"/>
                          <a:cs typeface="Arial" pitchFamily="34" charset="-120"/>
                        </a:rPr>
                        <a:t>≤ −25 °C</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90" dirty="0">
                          <a:solidFill>
                            <a:srgbClr val="444444"/>
                          </a:solidFill>
                          <a:latin typeface="Arial" pitchFamily="34" charset="0"/>
                          <a:ea typeface="Arial" pitchFamily="34" charset="-122"/>
                          <a:cs typeface="Arial" pitchFamily="34" charset="-120"/>
                        </a:rPr>
                        <a:t>45%</a:t>
                      </a:r>
                      <a:endParaRPr lang="en-US" sz="990"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bl>
          </a:graphicData>
        </a:graphic>
      </p:graphicFrame>
      <p:sp>
        <p:nvSpPr>
          <p:cNvPr id="5" name="Text 1"/>
          <p:cNvSpPr/>
          <p:nvPr/>
        </p:nvSpPr>
        <p:spPr>
          <a:xfrm>
            <a:off x="5375597" y="3071292"/>
            <a:ext cx="3317602" cy="1619771"/>
          </a:xfrm>
          <a:prstGeom prst="rect">
            <a:avLst/>
          </a:prstGeom>
          <a:noFill/>
          <a:ln/>
        </p:spPr>
        <p:txBody>
          <a:bodyPr wrap="square" lIns="0" tIns="0" rIns="0" bIns="0" rtlCol="0" anchor="t"/>
          <a:lstStyle/>
          <a:p>
            <a:pPr marL="228600" indent="-228600">
              <a:lnSpc>
                <a:spcPts val="1540"/>
              </a:lnSpc>
              <a:spcAft>
                <a:spcPts val="440"/>
              </a:spcAft>
              <a:buSzPct val="100000"/>
              <a:buChar char="•"/>
            </a:pPr>
            <a:r>
              <a:rPr lang="en-US" sz="1100" spc="-11" kern="0" dirty="0">
                <a:solidFill>
                  <a:srgbClr val="5E666F"/>
                </a:solidFill>
                <a:latin typeface="Poppins" pitchFamily="34" charset="0"/>
                <a:ea typeface="Poppins" pitchFamily="34" charset="-122"/>
                <a:cs typeface="Poppins" pitchFamily="34" charset="-120"/>
              </a:rPr>
              <a:t>#2 Backup is re-checked live before it is promoted</a:t>
            </a:r>
            <a:endParaRPr lang="en-US" sz="1100" dirty="0"/>
          </a:p>
          <a:p>
            <a:pPr marL="228600" indent="-228600">
              <a:lnSpc>
                <a:spcPts val="1540"/>
              </a:lnSpc>
              <a:spcAft>
                <a:spcPts val="440"/>
              </a:spcAft>
              <a:buSzPct val="100000"/>
              <a:buChar char="•"/>
            </a:pPr>
            <a:r>
              <a:rPr lang="en-US" sz="1100" spc="-11" kern="0" dirty="0">
                <a:solidFill>
                  <a:srgbClr val="5E666F"/>
                </a:solidFill>
                <a:latin typeface="Poppins" pitchFamily="34" charset="0"/>
                <a:ea typeface="Poppins" pitchFamily="34" charset="-122"/>
                <a:cs typeface="Poppins" pitchFamily="34" charset="-120"/>
              </a:rPr>
              <a:t>Relief battery is checked before launch</a:t>
            </a:r>
            <a:endParaRPr lang="en-US" sz="1100" dirty="0"/>
          </a:p>
          <a:p>
            <a:pPr marL="228600" indent="-228600">
              <a:lnSpc>
                <a:spcPts val="1540"/>
              </a:lnSpc>
              <a:spcAft>
                <a:spcPts val="440"/>
              </a:spcAft>
              <a:buSzPct val="100000"/>
              <a:buChar char="•"/>
            </a:pPr>
            <a:r>
              <a:rPr lang="en-US" sz="1100" spc="-11" kern="0" dirty="0">
                <a:solidFill>
                  <a:srgbClr val="5E666F"/>
                </a:solidFill>
                <a:latin typeface="Poppins" pitchFamily="34" charset="0"/>
                <a:ea typeface="Poppins" pitchFamily="34" charset="-122"/>
                <a:cs typeface="Poppins" pitchFamily="34" charset="-120"/>
              </a:rPr>
              <a:t>Pre-warmed endurance </a:t>
            </a:r>
            <a:pPr indent="0" marL="0">
              <a:lnSpc>
                <a:spcPts val="1540"/>
              </a:lnSpc>
              <a:spcAft>
                <a:spcPts val="440"/>
              </a:spcAft>
              <a:buNone/>
            </a:pPr>
            <a:r>
              <a:rPr lang="en-US" sz="1100" b="1" spc="-11" kern="0" dirty="0">
                <a:solidFill>
                  <a:srgbClr val="5E666F"/>
                </a:solidFill>
                <a:latin typeface="Poppins" pitchFamily="34" charset="0"/>
                <a:ea typeface="Poppins" pitchFamily="34" charset="-122"/>
                <a:cs typeface="Poppins" pitchFamily="34" charset="-120"/>
              </a:rPr>
              <a:t>36–38 min</a:t>
            </a:r>
            <a:pPr indent="0" marL="0">
              <a:lnSpc>
                <a:spcPts val="1540"/>
              </a:lnSpc>
              <a:spcAft>
                <a:spcPts val="440"/>
              </a:spcAft>
              <a:buNone/>
            </a:pPr>
            <a:r>
              <a:rPr lang="en-US" sz="1100" spc="-11" kern="0" dirty="0">
                <a:solidFill>
                  <a:srgbClr val="5E666F"/>
                </a:solidFill>
                <a:latin typeface="Poppins" pitchFamily="34" charset="0"/>
                <a:ea typeface="Poppins" pitchFamily="34" charset="-122"/>
                <a:cs typeface="Poppins" pitchFamily="34" charset="-120"/>
              </a:rPr>
              <a:t> (planning estimate)</a:t>
            </a:r>
            <a:endParaRPr lang="en-US" sz="1100" dirty="0"/>
          </a:p>
          <a:p>
            <a:pPr algn="l" indent="0" marL="0">
              <a:lnSpc>
                <a:spcPts val="1540"/>
              </a:lnSpc>
              <a:spcBef>
                <a:spcPts val="220"/>
              </a:spcBef>
              <a:buNone/>
            </a:pPr>
            <a:r>
              <a:rPr lang="en-US" sz="1100" b="1" spc="-11" kern="0" dirty="0">
                <a:solidFill>
                  <a:srgbClr val="5E666F"/>
                </a:solidFill>
                <a:latin typeface="Poppins" pitchFamily="34" charset="0"/>
                <a:ea typeface="Poppins" pitchFamily="34" charset="-122"/>
                <a:cs typeface="Poppins" pitchFamily="34" charset="-120"/>
              </a:rPr>
              <a:t>Qualification:</a:t>
            </a:r>
            <a:pPr algn="l" indent="0" marL="0">
              <a:lnSpc>
                <a:spcPts val="1540"/>
              </a:lnSpc>
              <a:spcBef>
                <a:spcPts val="220"/>
              </a:spcBef>
              <a:buNone/>
            </a:pPr>
            <a:r>
              <a:rPr lang="en-US" sz="1100" spc="-11" kern="0" dirty="0">
                <a:solidFill>
                  <a:srgbClr val="5E666F"/>
                </a:solidFill>
                <a:latin typeface="Poppins" pitchFamily="34" charset="0"/>
                <a:ea typeface="Poppins" pitchFamily="34" charset="-122"/>
                <a:cs typeface="Poppins" pitchFamily="34" charset="-120"/>
              </a:rPr>
              <a:t> reserve rules are design values; handover timing is modeled.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48704"/>
          </a:xfrm>
          <a:prstGeom prst="rect">
            <a:avLst/>
          </a:prstGeom>
          <a:noFill/>
          <a:ln/>
        </p:spPr>
        <p:txBody>
          <a:bodyPr wrap="square" lIns="0" tIns="0" rIns="0" bIns="0" rtlCol="0" anchor="t"/>
          <a:lstStyle/>
          <a:p>
            <a:pPr algn="l" indent="0" marL="0">
              <a:lnSpc>
                <a:spcPts val="2746"/>
              </a:lnSpc>
              <a:buNone/>
            </a:pPr>
            <a:r>
              <a:rPr lang="en-US" sz="2288" b="1" spc="-69" kern="0" dirty="0">
                <a:solidFill>
                  <a:srgbClr val="12284C"/>
                </a:solidFill>
                <a:latin typeface="Poppins" pitchFamily="34" charset="0"/>
                <a:ea typeface="Poppins" pitchFamily="34" charset="-122"/>
                <a:cs typeface="Poppins" pitchFamily="34" charset="-120"/>
              </a:rPr>
              <a:t>Kaamos Winter: Battery Care and a 10 Hz Black Box</a:t>
            </a:r>
            <a:endParaRPr lang="en-US" sz="2288" dirty="0"/>
          </a:p>
        </p:txBody>
      </p:sp>
      <p:pic>
        <p:nvPicPr>
          <p:cNvPr id="3" name="Image 0" descr="Karhunkierros SAR Technical Illustration">    </p:cNvPr>
          <p:cNvPicPr>
            <a:picLocks noChangeAspect="1"/>
          </p:cNvPicPr>
          <p:nvPr/>
        </p:nvPicPr>
        <p:blipFill>
          <a:blip r:embed="rId1"/>
          <a:stretch>
            <a:fillRect/>
          </a:stretch>
        </p:blipFill>
        <p:spPr>
          <a:xfrm>
            <a:off x="456569" y="1099840"/>
            <a:ext cx="4386111" cy="3274963"/>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116264" y="1035397"/>
          <a:ext cx="3580730" cy="914400"/>
        </p:xfrm>
        <a:graphic>
          <a:graphicData uri="http://schemas.openxmlformats.org/drawingml/2006/table">
            <a:tbl>
              <a:tblPr/>
              <a:tblGrid>
                <a:gridCol w="1790328"/>
                <a:gridCol w="1790402"/>
              </a:tblGrid>
              <a:tr h="0">
                <a:tc>
                  <a:txBody>
                    <a:bodyPr/>
                    <a:lstStyle/>
                    <a:p>
                      <a:pPr algn="l" indent="0" marL="0">
                        <a:buNone/>
                      </a:pPr>
                      <a:r>
                        <a:rPr lang="en-US" sz="936" b="1" dirty="0">
                          <a:solidFill>
                            <a:srgbClr val="444444"/>
                          </a:solidFill>
                          <a:latin typeface="Arial" pitchFamily="34" charset="0"/>
                          <a:ea typeface="Arial" pitchFamily="34" charset="-122"/>
                          <a:cs typeface="Arial" pitchFamily="34" charset="-120"/>
                        </a:rPr>
                        <a:t>Parameter</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936" b="1" dirty="0">
                          <a:solidFill>
                            <a:srgbClr val="444444"/>
                          </a:solidFill>
                          <a:latin typeface="Arial" pitchFamily="34" charset="0"/>
                          <a:ea typeface="Arial" pitchFamily="34" charset="-122"/>
                          <a:cs typeface="Arial" pitchFamily="34" charset="-120"/>
                        </a:rPr>
                        <a:t>Planning value</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r>
              <a:tr h="0">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Pack</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8,000 mAh 4S2P, 118.4 Wh</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Endurance, pre-warmed</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36–38 min</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Endurance, cold-soaked −25 °C</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28+ min</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Climb limit on sag</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1.5 m/s below 12.2 V</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Icing trigger</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&gt;12% torque anomaly</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Shed burst</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936" dirty="0">
                          <a:solidFill>
                            <a:srgbClr val="444444"/>
                          </a:solidFill>
                          <a:latin typeface="Arial" pitchFamily="34" charset="0"/>
                          <a:ea typeface="Arial" pitchFamily="34" charset="-122"/>
                          <a:cs typeface="Arial" pitchFamily="34" charset="-120"/>
                        </a:rPr>
                        <a:t>8,500 RPM</a:t>
                      </a:r>
                      <a:endParaRPr lang="en-US" sz="936"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bl>
          </a:graphicData>
        </a:graphic>
      </p:graphicFrame>
      <p:sp>
        <p:nvSpPr>
          <p:cNvPr id="5" name="Text 1"/>
          <p:cNvSpPr/>
          <p:nvPr/>
        </p:nvSpPr>
        <p:spPr>
          <a:xfrm>
            <a:off x="5116264" y="3592413"/>
            <a:ext cx="3580730" cy="554757"/>
          </a:xfrm>
          <a:prstGeom prst="rect">
            <a:avLst/>
          </a:prstGeom>
          <a:noFill/>
          <a:ln/>
        </p:spPr>
        <p:txBody>
          <a:bodyPr wrap="square" lIns="0" tIns="0" rIns="0" bIns="0" rtlCol="0" anchor="t"/>
          <a:lstStyle/>
          <a:p>
            <a:pPr algn="l" indent="0" marL="0">
              <a:lnSpc>
                <a:spcPts val="1456"/>
              </a:lnSpc>
              <a:buNone/>
            </a:pPr>
            <a:r>
              <a:rPr lang="en-US" sz="1040" b="1" spc="-11" kern="0" dirty="0">
                <a:solidFill>
                  <a:srgbClr val="5E666F"/>
                </a:solidFill>
                <a:latin typeface="Poppins" pitchFamily="34" charset="0"/>
                <a:ea typeface="Poppins" pitchFamily="34" charset="-122"/>
                <a:cs typeface="Poppins" pitchFamily="34" charset="-120"/>
              </a:rPr>
              <a:t>Qualification:</a:t>
            </a:r>
            <a:pPr algn="l" indent="0" marL="0">
              <a:lnSpc>
                <a:spcPts val="1456"/>
              </a:lnSpc>
              <a:buNone/>
            </a:pPr>
            <a:r>
              <a:rPr lang="en-US" sz="1040" spc="-11" kern="0" dirty="0">
                <a:solidFill>
                  <a:srgbClr val="5E666F"/>
                </a:solidFill>
                <a:latin typeface="Poppins" pitchFamily="34" charset="0"/>
                <a:ea typeface="Poppins" pitchFamily="34" charset="-122"/>
                <a:cs typeface="Poppins" pitchFamily="34" charset="-120"/>
              </a:rPr>
              <a:t> planning estimates. Icing tolerance is unproven; the logger's grade label is a software classification, not laboratory qualification.</a:t>
            </a:r>
            <a:endParaRPr lang="en-US" sz="10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48704"/>
          </a:xfrm>
          <a:prstGeom prst="rect">
            <a:avLst/>
          </a:prstGeom>
          <a:noFill/>
          <a:ln/>
        </p:spPr>
        <p:txBody>
          <a:bodyPr wrap="square" lIns="0" tIns="0" rIns="0" bIns="0" rtlCol="0" anchor="t"/>
          <a:lstStyle/>
          <a:p>
            <a:pPr algn="l" indent="0" marL="0">
              <a:lnSpc>
                <a:spcPts val="2746"/>
              </a:lnSpc>
              <a:buNone/>
            </a:pPr>
            <a:r>
              <a:rPr lang="en-US" sz="2288" b="1" spc="-69" kern="0" dirty="0">
                <a:solidFill>
                  <a:srgbClr val="12284C"/>
                </a:solidFill>
                <a:latin typeface="Poppins" pitchFamily="34" charset="0"/>
                <a:ea typeface="Poppins" pitchFamily="34" charset="-122"/>
                <a:cs typeface="Poppins" pitchFamily="34" charset="-120"/>
              </a:rPr>
              <a:t>FIN-LAB Sensor Adapters Feed One Common Ingest</a:t>
            </a:r>
            <a:endParaRPr lang="en-US" sz="2288" dirty="0"/>
          </a:p>
        </p:txBody>
      </p:sp>
      <p:pic>
        <p:nvPicPr>
          <p:cNvPr id="3" name="Image 0" descr="Karhunkierros SAR Technical Illustration">    </p:cNvPr>
          <p:cNvPicPr>
            <a:picLocks noChangeAspect="1"/>
          </p:cNvPicPr>
          <p:nvPr/>
        </p:nvPicPr>
        <p:blipFill>
          <a:blip r:embed="rId1"/>
          <a:stretch>
            <a:fillRect/>
          </a:stretch>
        </p:blipFill>
        <p:spPr>
          <a:xfrm>
            <a:off x="506981" y="1099840"/>
            <a:ext cx="4532713" cy="3384426"/>
          </a:xfrm>
          <a:prstGeom prst="rect">
            <a:avLst/>
          </a:prstGeom>
        </p:spPr>
      </p:pic>
      <p:sp>
        <p:nvSpPr>
          <p:cNvPr id="4" name="Text 1"/>
          <p:cNvSpPr/>
          <p:nvPr/>
        </p:nvSpPr>
        <p:spPr>
          <a:xfrm>
            <a:off x="5363691" y="937915"/>
            <a:ext cx="3333304" cy="3486224"/>
          </a:xfrm>
          <a:prstGeom prst="rect">
            <a:avLst/>
          </a:prstGeom>
          <a:noFill/>
          <a:ln/>
        </p:spPr>
        <p:txBody>
          <a:bodyPr wrap="square" lIns="0" tIns="0" rIns="0" bIns="0" rtlCol="0" anchor="t"/>
          <a:lstStyle/>
          <a:p>
            <a:pPr algn="l" indent="0" marL="0">
              <a:lnSpc>
                <a:spcPts val="1456"/>
              </a:lnSpc>
              <a:buNone/>
            </a:pPr>
            <a:r>
              <a:rPr lang="en-US" sz="1040" b="1" spc="-11" kern="0" dirty="0">
                <a:solidFill>
                  <a:srgbClr val="5E666F"/>
                </a:solidFill>
                <a:latin typeface="Poppins" pitchFamily="34" charset="0"/>
                <a:ea typeface="Poppins" pitchFamily="34" charset="-122"/>
                <a:cs typeface="Poppins" pitchFamily="34" charset="-120"/>
              </a:rPr>
              <a:t>Adapters (FIN-LAB-01 Open Ingest API v0.9)</a:t>
            </a:r>
            <a:endParaRPr lang="en-US" sz="1040" dirty="0"/>
          </a:p>
          <a:p>
            <a:pPr marL="228600" indent="-228600">
              <a:lnSpc>
                <a:spcPts val="1456"/>
              </a:lnSpc>
              <a:spcBef>
                <a:spcPts val="935"/>
              </a:spcBef>
              <a:spcAft>
                <a:spcPts val="416"/>
              </a:spcAft>
              <a:buSzPct val="100000"/>
              <a:buChar char="•"/>
            </a:pPr>
            <a:r>
              <a:rPr lang="en-US" sz="1040" spc="-11" kern="0" dirty="0">
                <a:solidFill>
                  <a:srgbClr val="5E666F"/>
                </a:solidFill>
                <a:latin typeface="Poppins" pitchFamily="34" charset="0"/>
                <a:ea typeface="Poppins" pitchFamily="34" charset="-122"/>
                <a:cs typeface="Poppins" pitchFamily="34" charset="-120"/>
              </a:rPr>
              <a:t>Hut occupancy and overdue check-in, with a stove false-alarm guard</a:t>
            </a:r>
            <a:endParaRPr lang="en-US" sz="1040" dirty="0"/>
          </a:p>
          <a:p>
            <a:pPr marL="228600" indent="-228600">
              <a:lnSpc>
                <a:spcPts val="1456"/>
              </a:lnSpc>
              <a:spcAft>
                <a:spcPts val="416"/>
              </a:spcAft>
              <a:buSzPct val="100000"/>
              <a:buChar char="•"/>
            </a:pPr>
            <a:r>
              <a:rPr lang="en-US" sz="1040" spc="-11" kern="0" dirty="0">
                <a:solidFill>
                  <a:srgbClr val="5E666F"/>
                </a:solidFill>
                <a:latin typeface="Poppins" pitchFamily="34" charset="0"/>
                <a:ea typeface="Poppins" pitchFamily="34" charset="-122"/>
                <a:cs typeface="Poppins" pitchFamily="34" charset="-120"/>
              </a:rPr>
              <a:t>Acoustic distress, with a geometry gate and wind suppression</a:t>
            </a:r>
            <a:endParaRPr lang="en-US" sz="1040" dirty="0"/>
          </a:p>
          <a:p>
            <a:pPr marL="228600" indent="-228600">
              <a:lnSpc>
                <a:spcPts val="1456"/>
              </a:lnSpc>
              <a:spcAft>
                <a:spcPts val="416"/>
              </a:spcAft>
              <a:buSzPct val="100000"/>
              <a:buChar char="•"/>
            </a:pPr>
            <a:r>
              <a:rPr lang="en-US" sz="1040" spc="-11" kern="0" dirty="0">
                <a:solidFill>
                  <a:srgbClr val="5E666F"/>
                </a:solidFill>
                <a:latin typeface="Poppins" pitchFamily="34" charset="0"/>
                <a:ea typeface="Poppins" pitchFamily="34" charset="-122"/>
                <a:cs typeface="Poppins" pitchFamily="34" charset="-120"/>
              </a:rPr>
              <a:t>Reindeer-herding collar telemetry</a:t>
            </a:r>
            <a:endParaRPr lang="en-US" sz="1040" dirty="0"/>
          </a:p>
          <a:p>
            <a:pPr marL="228600" indent="-228600">
              <a:lnSpc>
                <a:spcPts val="1456"/>
              </a:lnSpc>
              <a:spcAft>
                <a:spcPts val="416"/>
              </a:spcAft>
              <a:buSzPct val="100000"/>
              <a:buChar char="•"/>
            </a:pPr>
            <a:r>
              <a:rPr lang="en-US" sz="1040" spc="-11" kern="0" dirty="0">
                <a:solidFill>
                  <a:srgbClr val="5E666F"/>
                </a:solidFill>
                <a:latin typeface="Poppins" pitchFamily="34" charset="0"/>
                <a:ea typeface="Poppins" pitchFamily="34" charset="-122"/>
                <a:cs typeface="Poppins" pitchFamily="34" charset="-120"/>
              </a:rPr>
              <a:t>Trail-camera radar and optical sightings</a:t>
            </a:r>
            <a:endParaRPr lang="en-US" sz="1040" dirty="0"/>
          </a:p>
          <a:p>
            <a:pPr algn="l" indent="0" marL="0">
              <a:lnSpc>
                <a:spcPts val="1456"/>
              </a:lnSpc>
              <a:spcBef>
                <a:spcPts val="207"/>
              </a:spcBef>
              <a:buNone/>
            </a:pPr>
            <a:r>
              <a:rPr lang="en-US" sz="1040" b="1" spc="-11" kern="0" dirty="0">
                <a:solidFill>
                  <a:srgbClr val="5E666F"/>
                </a:solidFill>
                <a:latin typeface="Poppins" pitchFamily="34" charset="0"/>
                <a:ea typeface="Poppins" pitchFamily="34" charset="-122"/>
                <a:cs typeface="Poppins" pitchFamily="34" charset="-120"/>
              </a:rPr>
              <a:t>Common outputs</a:t>
            </a:r>
            <a:endParaRPr lang="en-US" sz="1040" dirty="0"/>
          </a:p>
          <a:p>
            <a:pPr marL="228600" indent="-228600">
              <a:lnSpc>
                <a:spcPts val="1456"/>
              </a:lnSpc>
              <a:spcBef>
                <a:spcPts val="935"/>
              </a:spcBef>
              <a:spcAft>
                <a:spcPts val="416"/>
              </a:spcAft>
              <a:buSzPct val="100000"/>
              <a:buChar char="•"/>
            </a:pPr>
            <a:r>
              <a:rPr lang="en-US" sz="1040" spc="-11" kern="0" dirty="0">
                <a:solidFill>
                  <a:srgbClr val="5E666F"/>
                </a:solidFill>
                <a:latin typeface="Poppins" pitchFamily="34" charset="0"/>
                <a:ea typeface="Poppins" pitchFamily="34" charset="-122"/>
                <a:cs typeface="Poppins" pitchFamily="34" charset="-120"/>
              </a:rPr>
              <a:t>ETRS-TM35FIN, WGS84 DDM, hut-relative bearing</a:t>
            </a:r>
            <a:endParaRPr lang="en-US" sz="1040" dirty="0"/>
          </a:p>
          <a:p>
            <a:pPr marL="228600" indent="-228600">
              <a:lnSpc>
                <a:spcPts val="1456"/>
              </a:lnSpc>
              <a:spcAft>
                <a:spcPts val="416"/>
              </a:spcAft>
              <a:buSzPct val="100000"/>
              <a:buChar char="•"/>
            </a:pPr>
            <a:r>
              <a:rPr lang="en-US" sz="1040" spc="-11" kern="0" dirty="0">
                <a:solidFill>
                  <a:srgbClr val="5E666F"/>
                </a:solidFill>
                <a:latin typeface="Poppins" pitchFamily="34" charset="0"/>
                <a:ea typeface="Poppins" pitchFamily="34" charset="-122"/>
                <a:cs typeface="Poppins" pitchFamily="34" charset="-120"/>
              </a:rPr>
              <a:t>Open JSON + Cursor-on-Target XML, conformance scorecard</a:t>
            </a:r>
            <a:endParaRPr lang="en-US" sz="1040" dirty="0"/>
          </a:p>
          <a:p>
            <a:pPr algn="l" indent="0" marL="0">
              <a:lnSpc>
                <a:spcPts val="1456"/>
              </a:lnSpc>
              <a:spcBef>
                <a:spcPts val="207"/>
              </a:spcBef>
              <a:buNone/>
            </a:pPr>
            <a:r>
              <a:rPr lang="en-US" sz="1040" b="1" spc="-11" kern="0" dirty="0">
                <a:solidFill>
                  <a:srgbClr val="5E666F"/>
                </a:solidFill>
                <a:latin typeface="Poppins" pitchFamily="34" charset="0"/>
                <a:ea typeface="Poppins" pitchFamily="34" charset="-122"/>
                <a:cs typeface="Poppins" pitchFamily="34" charset="-120"/>
              </a:rPr>
              <a:t>Qualification:</a:t>
            </a:r>
            <a:pPr algn="l" indent="0" marL="0">
              <a:lnSpc>
                <a:spcPts val="1456"/>
              </a:lnSpc>
              <a:spcBef>
                <a:spcPts val="207"/>
              </a:spcBef>
              <a:buNone/>
            </a:pPr>
            <a:r>
              <a:rPr lang="en-US" sz="1040" spc="-11" kern="0" dirty="0">
                <a:solidFill>
                  <a:srgbClr val="5E666F"/>
                </a:solidFill>
                <a:latin typeface="Poppins" pitchFamily="34" charset="0"/>
                <a:ea typeface="Poppins" pitchFamily="34" charset="-122"/>
                <a:cs typeface="Poppins" pitchFamily="34" charset="-120"/>
              </a:rPr>
              <a:t> proposed interfaces, simulated adapters. No live agency integration or partnership is claimed.</a:t>
            </a:r>
            <a:endParaRPr lang="en-US" sz="10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402357"/>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Sizing the Fleet With a Simulated Digital Twin</a:t>
            </a:r>
            <a:endParaRPr lang="en-US" sz="2640" dirty="0"/>
          </a:p>
        </p:txBody>
      </p:sp>
      <p:pic>
        <p:nvPicPr>
          <p:cNvPr id="3" name="Image 0" descr="Karhunkierros SAR Technical Illustration">    </p:cNvPr>
          <p:cNvPicPr>
            <a:picLocks noChangeAspect="1"/>
          </p:cNvPicPr>
          <p:nvPr/>
        </p:nvPicPr>
        <p:blipFill>
          <a:blip r:embed="rId1"/>
          <a:stretch>
            <a:fillRect/>
          </a:stretch>
        </p:blipFill>
        <p:spPr>
          <a:xfrm>
            <a:off x="466743" y="1250082"/>
            <a:ext cx="3943314" cy="2944341"/>
          </a:xfrm>
          <a:prstGeom prst="rect">
            <a:avLst/>
          </a:prstGeom>
        </p:spPr>
      </p:pic>
      <p:graphicFrame>
        <p:nvGraphicFramePr>
          <p:cNvPr id="4" name="Chart 0" descr=""/>
          <p:cNvGraphicFramePr/>
          <p:nvPr/>
        </p:nvGraphicFramePr>
        <p:xfrm>
          <a:off x="4724400" y="1088157"/>
          <a:ext cx="3962400" cy="2104802"/>
        </p:xfrm>
        <a:graphic xmlns:a="http://schemas.openxmlformats.org/drawingml/2006/main">
          <a:graphicData uri="http://schemas.openxmlformats.org/drawingml/2006/chart">
            <c:chart xmlns:c="http://schemas.openxmlformats.org/drawingml/2006/chart" r:id="rId2"/>
          </a:graphicData>
        </a:graphic>
      </p:graphicFrame>
      <p:sp>
        <p:nvSpPr>
          <p:cNvPr id="5" name="Text 1"/>
          <p:cNvSpPr/>
          <p:nvPr/>
        </p:nvSpPr>
        <p:spPr>
          <a:xfrm>
            <a:off x="4724400" y="3269159"/>
            <a:ext cx="3962400" cy="1310506"/>
          </a:xfrm>
          <a:prstGeom prst="rect">
            <a:avLst/>
          </a:prstGeom>
          <a:noFill/>
          <a:ln/>
        </p:spPr>
        <p:txBody>
          <a:bodyPr wrap="square" lIns="0" tIns="0" rIns="0" bIns="0" rtlCol="0" anchor="t"/>
          <a:lstStyle/>
          <a:p>
            <a:pPr marL="228600" indent="-228600">
              <a:lnSpc>
                <a:spcPts val="1680"/>
              </a:lnSpc>
              <a:spcAft>
                <a:spcPts val="480"/>
              </a:spcAft>
              <a:buSzPct val="100000"/>
              <a:buChar char="•"/>
            </a:pPr>
            <a:r>
              <a:rPr lang="en-US" sz="1200" b="1" spc="-11" kern="0" dirty="0">
                <a:solidFill>
                  <a:srgbClr val="5E666F"/>
                </a:solidFill>
                <a:latin typeface="Poppins" pitchFamily="34" charset="0"/>
                <a:ea typeface="Poppins" pitchFamily="34" charset="-122"/>
                <a:cs typeface="Poppins" pitchFamily="34" charset="-120"/>
              </a:rPr>
              <a:t>1,000-run</a:t>
            </a:r>
            <a:pPr indent="0" marL="0">
              <a:lnSpc>
                <a:spcPts val="1680"/>
              </a:lnSpc>
              <a:spcAft>
                <a:spcPts val="480"/>
              </a:spcAft>
              <a:buNone/>
            </a:pPr>
            <a:r>
              <a:rPr lang="en-US" sz="1200" spc="-11" kern="0" dirty="0">
                <a:solidFill>
                  <a:srgbClr val="5E666F"/>
                </a:solidFill>
                <a:latin typeface="Poppins" pitchFamily="34" charset="0"/>
                <a:ea typeface="Poppins" pitchFamily="34" charset="-122"/>
                <a:cs typeface="Poppins" pitchFamily="34" charset="-120"/>
              </a:rPr>
              <a:t> seeded Monte Carlo (FIN-LAB-04)</a:t>
            </a:r>
            <a:endParaRPr lang="en-US" sz="1200" dirty="0"/>
          </a:p>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Selected scenario: </a:t>
            </a:r>
            <a:pPr indent="0" marL="0">
              <a:lnSpc>
                <a:spcPts val="1680"/>
              </a:lnSpc>
              <a:spcAft>
                <a:spcPts val="480"/>
              </a:spcAft>
              <a:buNone/>
            </a:pPr>
            <a:r>
              <a:rPr lang="en-US" sz="1200" b="1" spc="-11" kern="0" dirty="0">
                <a:solidFill>
                  <a:srgbClr val="5E666F"/>
                </a:solidFill>
                <a:latin typeface="Poppins" pitchFamily="34" charset="0"/>
                <a:ea typeface="Poppins" pitchFamily="34" charset="-122"/>
                <a:cs typeface="Poppins" pitchFamily="34" charset="-120"/>
              </a:rPr>
              <a:t>4 nests, 3 packs, ~€185k</a:t>
            </a:r>
            <a:pPr indent="0" marL="0">
              <a:lnSpc>
                <a:spcPts val="1680"/>
              </a:lnSpc>
              <a:spcAft>
                <a:spcPts val="480"/>
              </a:spcAft>
              <a:buNone/>
            </a:pPr>
            <a:r>
              <a:rPr lang="en-US" sz="1200" spc="-11" kern="0" dirty="0">
                <a:solidFill>
                  <a:srgbClr val="5E666F"/>
                </a:solidFill>
                <a:latin typeface="Poppins" pitchFamily="34" charset="0"/>
                <a:ea typeface="Poppins" pitchFamily="34" charset="-122"/>
                <a:cs typeface="Poppins" pitchFamily="34" charset="-120"/>
              </a:rPr>
              <a:t>, P95 </a:t>
            </a:r>
            <a:pPr indent="0" marL="0">
              <a:lnSpc>
                <a:spcPts val="1680"/>
              </a:lnSpc>
              <a:spcAft>
                <a:spcPts val="480"/>
              </a:spcAft>
              <a:buNone/>
            </a:pPr>
            <a:r>
              <a:rPr lang="en-US" sz="1200" b="1" spc="-11" kern="0" dirty="0">
                <a:solidFill>
                  <a:srgbClr val="5E666F"/>
                </a:solidFill>
                <a:latin typeface="Poppins" pitchFamily="34" charset="0"/>
                <a:ea typeface="Poppins" pitchFamily="34" charset="-122"/>
                <a:cs typeface="Poppins" pitchFamily="34" charset="-120"/>
              </a:rPr>
              <a:t>15.5 min</a:t>
            </a:r>
            <a:endParaRPr lang="en-US" sz="1200" dirty="0"/>
          </a:p>
          <a:p>
            <a:pPr marL="228600" indent="-228600">
              <a:lnSpc>
                <a:spcPts val="1680"/>
              </a:lnSpc>
              <a:spcAft>
                <a:spcPts val="480"/>
              </a:spcAft>
              <a:buSzPct val="100000"/>
              <a:buChar char="•"/>
            </a:pPr>
            <a:r>
              <a:rPr lang="en-US" sz="1200" i="1" spc="-11" kern="0" dirty="0">
                <a:solidFill>
                  <a:srgbClr val="5E666F"/>
                </a:solidFill>
                <a:latin typeface="Poppins" pitchFamily="34" charset="0"/>
                <a:ea typeface="Poppins" pitchFamily="34" charset="-122"/>
                <a:cs typeface="Poppins" pitchFamily="34" charset="-120"/>
              </a:rPr>
              <a:t>All figures are simulation outputs, not field results. Validate against real incident data.</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402357"/>
          </a:xfrm>
          <a:prstGeom prst="rect">
            <a:avLst/>
          </a:prstGeom>
          <a:noFill/>
          <a:ln/>
        </p:spPr>
        <p:txBody>
          <a:bodyPr wrap="square" lIns="0" tIns="0" rIns="0" bIns="0" rtlCol="0" anchor="t"/>
          <a:lstStyle/>
          <a:p>
            <a:pPr algn="l" indent="0" marL="0">
              <a:lnSpc>
                <a:spcPts val="3168"/>
              </a:lnSpc>
              <a:buNone/>
            </a:pPr>
            <a:r>
              <a:rPr lang="en-US" sz="2640" b="1" spc="-79" kern="0" dirty="0">
                <a:solidFill>
                  <a:srgbClr val="12284C"/>
                </a:solidFill>
                <a:latin typeface="Poppins" pitchFamily="34" charset="0"/>
                <a:ea typeface="Poppins" pitchFamily="34" charset="-122"/>
                <a:cs typeface="Poppins" pitchFamily="34" charset="-120"/>
              </a:rPr>
              <a:t>Eight BOM Lines and Four Sourcing Tiers</a:t>
            </a:r>
            <a:endParaRPr lang="en-US" sz="264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40010" y="1162199"/>
          <a:ext cx="4489921" cy="914400"/>
        </p:xfrm>
        <a:graphic>
          <a:graphicData uri="http://schemas.openxmlformats.org/drawingml/2006/table">
            <a:tbl>
              <a:tblPr/>
              <a:tblGrid>
                <a:gridCol w="2244923"/>
                <a:gridCol w="2244998"/>
              </a:tblGrid>
              <a:tr h="0">
                <a:tc>
                  <a:txBody>
                    <a:bodyPr/>
                    <a:lstStyle/>
                    <a:p>
                      <a:pPr algn="l" indent="0" marL="0">
                        <a:buNone/>
                      </a:pPr>
                      <a:r>
                        <a:rPr lang="en-US" sz="837" b="1" dirty="0">
                          <a:solidFill>
                            <a:srgbClr val="444444"/>
                          </a:solidFill>
                          <a:latin typeface="Arial" pitchFamily="34" charset="0"/>
                          <a:ea typeface="Arial" pitchFamily="34" charset="-122"/>
                          <a:cs typeface="Arial" pitchFamily="34" charset="-120"/>
                        </a:rPr>
                        <a:t>Core drone subsystem</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837" b="1" dirty="0">
                          <a:solidFill>
                            <a:srgbClr val="444444"/>
                          </a:solidFill>
                          <a:latin typeface="Arial" pitchFamily="34" charset="0"/>
                          <a:ea typeface="Arial" pitchFamily="34" charset="-122"/>
                          <a:cs typeface="Arial" pitchFamily="34" charset="-120"/>
                        </a:rPr>
                        <a:t>EUR</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Airframe, autopilot, GNSS, telemetry</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490</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Pi 5 companion and bench kit</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115</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Thermal + Starvis cameras</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255</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LiDAR + optical flow</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90</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Spotlight, sky-flare, release, speaker, cask</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99</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Arctic battery and charger</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155</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Safety-pilot RC and cells</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80</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EMI ferrites and collar mic</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45</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Total core drone</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837" dirty="0">
                          <a:solidFill>
                            <a:srgbClr val="444444"/>
                          </a:solidFill>
                          <a:latin typeface="Arial" pitchFamily="34" charset="0"/>
                          <a:ea typeface="Arial" pitchFamily="34" charset="-122"/>
                          <a:cs typeface="Arial" pitchFamily="34" charset="-120"/>
                        </a:rPr>
                        <a:t>1,329</a:t>
                      </a:r>
                      <a:endParaRPr lang="en-US" sz="837"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bl>
          </a:graphicData>
        </a:graphic>
      </p:graphicFrame>
      <p:sp>
        <p:nvSpPr>
          <p:cNvPr id="4" name="Text 1"/>
          <p:cNvSpPr/>
          <p:nvPr/>
        </p:nvSpPr>
        <p:spPr>
          <a:xfrm>
            <a:off x="440010" y="4316834"/>
            <a:ext cx="4489921" cy="330547"/>
          </a:xfrm>
          <a:prstGeom prst="rect">
            <a:avLst/>
          </a:prstGeom>
          <a:noFill/>
          <a:ln/>
        </p:spPr>
        <p:txBody>
          <a:bodyPr wrap="square" lIns="0" tIns="0" rIns="0" bIns="0" rtlCol="0" anchor="t"/>
          <a:lstStyle/>
          <a:p>
            <a:pPr algn="l" indent="0" marL="0">
              <a:lnSpc>
                <a:spcPts val="1302"/>
              </a:lnSpc>
              <a:buNone/>
            </a:pPr>
            <a:r>
              <a:rPr lang="en-US" sz="930" i="1" spc="-11" kern="0" dirty="0">
                <a:solidFill>
                  <a:srgbClr val="5E666F"/>
                </a:solidFill>
                <a:latin typeface="Poppins" pitchFamily="34" charset="0"/>
                <a:ea typeface="Poppins" pitchFamily="34" charset="-122"/>
                <a:cs typeface="Poppins" pitchFamily="34" charset="-120"/>
              </a:rPr>
              <a:t>Optional heated clamshell pad +€212. Trail posts, nests, deployment, training and programme costs are separate.</a:t>
            </a:r>
            <a:endParaRPr lang="en-US" sz="930" dirty="0"/>
          </a:p>
        </p:txBody>
      </p:sp>
      <p:graphicFrame>
        <p:nvGraphicFramePr>
          <p:cNvPr id="5" name="Chart 0" descr=""/>
          <p:cNvGraphicFramePr/>
          <p:nvPr/>
        </p:nvGraphicFramePr>
        <p:xfrm>
          <a:off x="5217542" y="1088157"/>
          <a:ext cx="3469258" cy="2379092"/>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5217542" y="3543449"/>
            <a:ext cx="3469258" cy="1036216"/>
          </a:xfrm>
          <a:prstGeom prst="rect">
            <a:avLst/>
          </a:prstGeom>
          <a:noFill/>
          <a:ln/>
        </p:spPr>
        <p:txBody>
          <a:bodyPr wrap="square" lIns="0" tIns="0" rIns="0" bIns="0" rtlCol="0" anchor="t"/>
          <a:lstStyle/>
          <a:p>
            <a:pPr marL="228600" indent="-228600">
              <a:lnSpc>
                <a:spcPts val="1680"/>
              </a:lnSpc>
              <a:spcAft>
                <a:spcPts val="480"/>
              </a:spcAft>
              <a:buSzPct val="100000"/>
              <a:buChar char="•"/>
            </a:pPr>
            <a:r>
              <a:rPr lang="en-US" sz="1200" spc="-11" kern="0" dirty="0">
                <a:solidFill>
                  <a:srgbClr val="5E666F"/>
                </a:solidFill>
                <a:latin typeface="Poppins" pitchFamily="34" charset="0"/>
                <a:ea typeface="Poppins" pitchFamily="34" charset="-122"/>
                <a:cs typeface="Poppins" pitchFamily="34" charset="-120"/>
              </a:rPr>
              <a:t>All tiers under the project's </a:t>
            </a:r>
            <a:pPr indent="0" marL="0">
              <a:lnSpc>
                <a:spcPts val="1680"/>
              </a:lnSpc>
              <a:spcAft>
                <a:spcPts val="480"/>
              </a:spcAft>
              <a:buNone/>
            </a:pPr>
            <a:r>
              <a:rPr lang="en-US" sz="1200" b="1" spc="-11" kern="0" dirty="0">
                <a:solidFill>
                  <a:srgbClr val="5E666F"/>
                </a:solidFill>
                <a:latin typeface="Poppins" pitchFamily="34" charset="0"/>
                <a:ea typeface="Poppins" pitchFamily="34" charset="-122"/>
                <a:cs typeface="Poppins" pitchFamily="34" charset="-120"/>
              </a:rPr>
              <a:t>€5,000</a:t>
            </a:r>
            <a:pPr indent="0" marL="0">
              <a:lnSpc>
                <a:spcPts val="1680"/>
              </a:lnSpc>
              <a:spcAft>
                <a:spcPts val="480"/>
              </a:spcAft>
              <a:buNone/>
            </a:pPr>
            <a:r>
              <a:rPr lang="en-US" sz="1200" spc="-11" kern="0" dirty="0">
                <a:solidFill>
                  <a:srgbClr val="5E666F"/>
                </a:solidFill>
                <a:latin typeface="Poppins" pitchFamily="34" charset="0"/>
                <a:ea typeface="Poppins" pitchFamily="34" charset="-122"/>
                <a:cs typeface="Poppins" pitchFamily="34" charset="-120"/>
              </a:rPr>
              <a:t> rule</a:t>
            </a:r>
            <a:endParaRPr lang="en-US" sz="1200" dirty="0"/>
          </a:p>
          <a:p>
            <a:pPr marL="228600" indent="-228600">
              <a:lnSpc>
                <a:spcPts val="1680"/>
              </a:lnSpc>
              <a:spcAft>
                <a:spcPts val="480"/>
              </a:spcAft>
              <a:buSzPct val="100000"/>
              <a:buChar char="•"/>
            </a:pPr>
            <a:r>
              <a:rPr lang="en-US" sz="1200" b="1" spc="-11" kern="0" dirty="0">
                <a:solidFill>
                  <a:srgbClr val="5E666F"/>
                </a:solidFill>
                <a:latin typeface="Poppins" pitchFamily="34" charset="0"/>
                <a:ea typeface="Poppins" pitchFamily="34" charset="-122"/>
                <a:cs typeface="Poppins" pitchFamily="34" charset="-120"/>
              </a:rPr>
              <a:t>Planning estimates, not quotations.</a:t>
            </a:r>
            <a:pPr indent="0" marL="0">
              <a:lnSpc>
                <a:spcPts val="1680"/>
              </a:lnSpc>
              <a:spcAft>
                <a:spcPts val="480"/>
              </a:spcAft>
              <a:buNone/>
            </a:pPr>
            <a:r>
              <a:rPr lang="en-US" sz="1200" spc="-11" kern="0" dirty="0">
                <a:solidFill>
                  <a:srgbClr val="5E666F"/>
                </a:solidFill>
                <a:latin typeface="Poppins" pitchFamily="34" charset="0"/>
                <a:ea typeface="Poppins" pitchFamily="34" charset="-122"/>
                <a:cs typeface="Poppins" pitchFamily="34" charset="-120"/>
              </a:rPr>
              <a:t> Compatibility and procurement still to verify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301675"/>
          </a:xfrm>
          <a:prstGeom prst="rect">
            <a:avLst/>
          </a:prstGeom>
          <a:noFill/>
          <a:ln/>
        </p:spPr>
        <p:txBody>
          <a:bodyPr wrap="square" lIns="0" tIns="0" rIns="0" bIns="0" rtlCol="0" anchor="t"/>
          <a:lstStyle/>
          <a:p>
            <a:pPr algn="l" indent="0" marL="0">
              <a:lnSpc>
                <a:spcPts val="2376"/>
              </a:lnSpc>
              <a:buNone/>
            </a:pPr>
            <a:r>
              <a:rPr lang="en-US" sz="1980" b="1" spc="-59" kern="0" dirty="0">
                <a:solidFill>
                  <a:srgbClr val="12284C"/>
                </a:solidFill>
                <a:latin typeface="Poppins" pitchFamily="34" charset="0"/>
                <a:ea typeface="Poppins" pitchFamily="34" charset="-122"/>
                <a:cs typeface="Poppins" pitchFamily="34" charset="-120"/>
              </a:rPr>
              <a:t>From Bench to Field: The Validation Ladder</a:t>
            </a:r>
            <a:endParaRPr lang="en-US" sz="1980" dirty="0"/>
          </a:p>
        </p:txBody>
      </p:sp>
      <p:pic>
        <p:nvPicPr>
          <p:cNvPr id="3" name="Image 0" descr="Karhunkierros SAR Technical Illustration">    </p:cNvPr>
          <p:cNvPicPr>
            <a:picLocks noChangeAspect="1"/>
          </p:cNvPicPr>
          <p:nvPr/>
        </p:nvPicPr>
        <p:blipFill>
          <a:blip r:embed="rId1"/>
          <a:stretch>
            <a:fillRect/>
          </a:stretch>
        </p:blipFill>
        <p:spPr>
          <a:xfrm>
            <a:off x="659864" y="920800"/>
            <a:ext cx="7824272" cy="3319388"/>
          </a:xfrm>
          <a:prstGeom prst="rect">
            <a:avLst/>
          </a:prstGeom>
        </p:spPr>
      </p:pic>
      <p:sp>
        <p:nvSpPr>
          <p:cNvPr id="4" name="Text 1"/>
          <p:cNvSpPr/>
          <p:nvPr/>
        </p:nvSpPr>
        <p:spPr>
          <a:xfrm>
            <a:off x="381000" y="4402113"/>
            <a:ext cx="8382000" cy="319980"/>
          </a:xfrm>
          <a:prstGeom prst="rect">
            <a:avLst/>
          </a:prstGeom>
          <a:noFill/>
          <a:ln/>
        </p:spPr>
        <p:txBody>
          <a:bodyPr wrap="square" lIns="0" tIns="0" rIns="0" bIns="0" rtlCol="0" anchor="t"/>
          <a:lstStyle/>
          <a:p>
            <a:pPr algn="l" indent="0" marL="0">
              <a:lnSpc>
                <a:spcPts val="1260"/>
              </a:lnSpc>
              <a:buNone/>
            </a:pPr>
            <a:r>
              <a:rPr lang="en-US" sz="900" i="1" spc="-11" kern="0" dirty="0">
                <a:solidFill>
                  <a:srgbClr val="5E666F"/>
                </a:solidFill>
                <a:latin typeface="Poppins" pitchFamily="34" charset="0"/>
                <a:ea typeface="Poppins" pitchFamily="34" charset="-122"/>
                <a:cs typeface="Poppins" pitchFamily="34" charset="-120"/>
              </a:rPr>
              <a:t>Proposed pathway built from the design log and Finnish brief. Steps 3–7 have not been completed. Operational permissions and pilot requirements must be confirmed with Traficom and the tasking authorities; no certification or legal conclusion is implied.</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457200"/>
            <a:ext cx="8382000" cy="258142"/>
          </a:xfrm>
          <a:prstGeom prst="rect">
            <a:avLst/>
          </a:prstGeom>
          <a:noFill/>
          <a:ln/>
        </p:spPr>
        <p:txBody>
          <a:bodyPr wrap="square" lIns="0" tIns="0" rIns="0" bIns="0" rtlCol="0" anchor="t"/>
          <a:lstStyle/>
          <a:p>
            <a:pPr algn="l" indent="0" marL="0">
              <a:lnSpc>
                <a:spcPts val="2033"/>
              </a:lnSpc>
              <a:buNone/>
            </a:pPr>
            <a:r>
              <a:rPr lang="en-US" sz="1694" b="1" spc="-51" kern="0" dirty="0">
                <a:solidFill>
                  <a:srgbClr val="12284C"/>
                </a:solidFill>
                <a:latin typeface="Poppins" pitchFamily="34" charset="0"/>
                <a:ea typeface="Poppins" pitchFamily="34" charset="-122"/>
                <a:cs typeface="Poppins" pitchFamily="34" charset="-120"/>
              </a:rPr>
              <a:t>Readiness and Verification Matrix</a:t>
            </a:r>
            <a:endParaRPr lang="en-US" sz="1694"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81000" y="764232"/>
          <a:ext cx="8382000" cy="914400"/>
        </p:xfrm>
        <a:graphic>
          <a:graphicData uri="http://schemas.openxmlformats.org/drawingml/2006/table">
            <a:tbl>
              <a:tblPr/>
              <a:tblGrid>
                <a:gridCol w="1397000"/>
                <a:gridCol w="1397000"/>
                <a:gridCol w="1397000"/>
                <a:gridCol w="1397000"/>
                <a:gridCol w="1397000"/>
                <a:gridCol w="1397000"/>
              </a:tblGrid>
              <a:tr h="0">
                <a:tc>
                  <a:txBody>
                    <a:bodyPr/>
                    <a:lstStyle/>
                    <a:p>
                      <a:pPr algn="l" indent="0" marL="0">
                        <a:buNone/>
                      </a:pPr>
                      <a:r>
                        <a:rPr lang="en-US" sz="693" b="1" dirty="0">
                          <a:solidFill>
                            <a:srgbClr val="444444"/>
                          </a:solidFill>
                          <a:latin typeface="Arial" pitchFamily="34" charset="0"/>
                          <a:ea typeface="Arial" pitchFamily="34" charset="-122"/>
                          <a:cs typeface="Arial" pitchFamily="34" charset="-120"/>
                        </a:rPr>
                        <a:t>Capability</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693" b="1" dirty="0">
                          <a:solidFill>
                            <a:srgbClr val="444444"/>
                          </a:solidFill>
                          <a:latin typeface="Arial" pitchFamily="34" charset="0"/>
                          <a:ea typeface="Arial" pitchFamily="34" charset="-122"/>
                          <a:cs typeface="Arial" pitchFamily="34" charset="-120"/>
                        </a:rPr>
                        <a:t>Designed</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693" b="1" dirty="0">
                          <a:solidFill>
                            <a:srgbClr val="444444"/>
                          </a:solidFill>
                          <a:latin typeface="Arial" pitchFamily="34" charset="0"/>
                          <a:ea typeface="Arial" pitchFamily="34" charset="-122"/>
                          <a:cs typeface="Arial" pitchFamily="34" charset="-120"/>
                        </a:rPr>
                        <a:t>Simulated / unit-tested</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693" b="1" dirty="0">
                          <a:solidFill>
                            <a:srgbClr val="444444"/>
                          </a:solidFill>
                          <a:latin typeface="Arial" pitchFamily="34" charset="0"/>
                          <a:ea typeface="Arial" pitchFamily="34" charset="-122"/>
                          <a:cs typeface="Arial" pitchFamily="34" charset="-120"/>
                        </a:rPr>
                        <a:t>Hardware bench</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693" b="1" dirty="0">
                          <a:solidFill>
                            <a:srgbClr val="444444"/>
                          </a:solidFill>
                          <a:latin typeface="Arial" pitchFamily="34" charset="0"/>
                          <a:ea typeface="Arial" pitchFamily="34" charset="-122"/>
                          <a:cs typeface="Arial" pitchFamily="34" charset="-120"/>
                        </a:rPr>
                        <a:t>Field-validated</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c>
                  <a:txBody>
                    <a:bodyPr/>
                    <a:lstStyle/>
                    <a:p>
                      <a:pPr algn="l" indent="0" marL="0">
                        <a:buNone/>
                      </a:pPr>
                      <a:r>
                        <a:rPr lang="en-US" sz="693" b="1" dirty="0">
                          <a:solidFill>
                            <a:srgbClr val="444444"/>
                          </a:solidFill>
                          <a:latin typeface="Arial" pitchFamily="34" charset="0"/>
                          <a:ea typeface="Arial" pitchFamily="34" charset="-122"/>
                          <a:cs typeface="Arial" pitchFamily="34" charset="-120"/>
                        </a:rPr>
                        <a:t>Authorised</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E9ECE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Trail post and 48 h buffer</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Partial</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Alert gate, dispatch, ranking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n/a</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Navigation layers and high altitude</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Partial</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Links and lost-link behaviour</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Partial</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Cask drop and guidance geometry</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Immobilized-hiker beacon</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Human pilot and two-way voice</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Partial</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Winter battery and black box</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FIN-LAB adapters and ingest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n/a</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r h="0">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Fleet digital twin</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Yes (log)</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n/a</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Not yet</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c>
                  <a:txBody>
                    <a:bodyPr/>
                    <a:lstStyle/>
                    <a:p>
                      <a:pPr algn="l" indent="0" marL="0">
                        <a:buNone/>
                      </a:pPr>
                      <a:r>
                        <a:rPr lang="en-US" sz="693" dirty="0">
                          <a:solidFill>
                            <a:srgbClr val="444444"/>
                          </a:solidFill>
                          <a:latin typeface="Arial" pitchFamily="34" charset="0"/>
                          <a:ea typeface="Arial" pitchFamily="34" charset="-122"/>
                          <a:cs typeface="Arial" pitchFamily="34" charset="-120"/>
                        </a:rPr>
                        <a:t>n/a</a:t>
                      </a:r>
                      <a:endParaRPr lang="en-US" sz="693" dirty="0">
                        <a:latin typeface="Arial" charset="0"/>
                        <a:ea typeface="Arial" charset="0"/>
                        <a:cs typeface="Arial" charset="0"/>
                      </a:endParaRPr>
                    </a:p>
                  </a:txBody>
                  <a:tcPr marL="45720" marR="45720" marT="45720" marB="45720"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FFFFFF"/>
                    </a:solidFill>
                  </a:tcPr>
                </a:tc>
              </a:tr>
            </a:tbl>
          </a:graphicData>
        </a:graphic>
      </p:graphicFrame>
      <p:sp>
        <p:nvSpPr>
          <p:cNvPr id="4" name="Text 1"/>
          <p:cNvSpPr/>
          <p:nvPr/>
        </p:nvSpPr>
        <p:spPr>
          <a:xfrm>
            <a:off x="381000" y="4421460"/>
            <a:ext cx="8382000" cy="410542"/>
          </a:xfrm>
          <a:prstGeom prst="rect">
            <a:avLst/>
          </a:prstGeom>
          <a:noFill/>
          <a:ln/>
        </p:spPr>
        <p:txBody>
          <a:bodyPr wrap="square" lIns="0" tIns="0" rIns="0" bIns="0" rtlCol="0" anchor="t"/>
          <a:lstStyle/>
          <a:p>
            <a:pPr algn="l" indent="0" marL="0">
              <a:lnSpc>
                <a:spcPts val="1078"/>
              </a:lnSpc>
              <a:buNone/>
            </a:pPr>
            <a:r>
              <a:rPr lang="en-US" sz="770" b="1" spc="-11" kern="0" dirty="0">
                <a:solidFill>
                  <a:srgbClr val="5E666F"/>
                </a:solidFill>
                <a:latin typeface="Poppins" pitchFamily="34" charset="0"/>
                <a:ea typeface="Poppins" pitchFamily="34" charset="-122"/>
                <a:cs typeface="Poppins" pitchFamily="34" charset="-120"/>
              </a:rPr>
              <a:t>29</a:t>
            </a:r>
            <a:pPr algn="l" indent="0" marL="0">
              <a:lnSpc>
                <a:spcPts val="1078"/>
              </a:lnSpc>
              <a:buNone/>
            </a:pPr>
            <a:r>
              <a:rPr lang="en-US" sz="770" spc="-11" kern="0" dirty="0">
                <a:solidFill>
                  <a:srgbClr val="5E666F"/>
                </a:solidFill>
                <a:latin typeface="Poppins" pitchFamily="34" charset="0"/>
                <a:ea typeface="Poppins" pitchFamily="34" charset="-122"/>
                <a:cs typeface="Poppins" pitchFamily="34" charset="-120"/>
              </a:rPr>
              <a:t> unit-test suites reported passing in the design log (historical, not re-run) · audit findings </a:t>
            </a:r>
            <a:pPr algn="l" indent="0" marL="0">
              <a:lnSpc>
                <a:spcPts val="1078"/>
              </a:lnSpc>
              <a:buNone/>
            </a:pPr>
            <a:r>
              <a:rPr lang="en-US" sz="770" b="1" spc="-11" kern="0" dirty="0">
                <a:solidFill>
                  <a:srgbClr val="5E666F"/>
                </a:solidFill>
                <a:latin typeface="Poppins" pitchFamily="34" charset="0"/>
                <a:ea typeface="Poppins" pitchFamily="34" charset="-122"/>
                <a:cs typeface="Poppins" pitchFamily="34" charset="-120"/>
              </a:rPr>
              <a:t>F01–F53</a:t>
            </a:r>
            <a:pPr algn="l" indent="0" marL="0">
              <a:lnSpc>
                <a:spcPts val="1078"/>
              </a:lnSpc>
              <a:buNone/>
            </a:pPr>
            <a:r>
              <a:rPr lang="en-US" sz="770" spc="-11" kern="0" dirty="0">
                <a:solidFill>
                  <a:srgbClr val="5E666F"/>
                </a:solidFill>
                <a:latin typeface="Poppins" pitchFamily="34" charset="0"/>
                <a:ea typeface="Poppins" pitchFamily="34" charset="-122"/>
                <a:cs typeface="Poppins" pitchFamily="34" charset="-120"/>
              </a:rPr>
              <a:t> recorded as resolved · physical assembly and live tuning self-reported in the source as about 20% (historical, unverified). </a:t>
            </a:r>
            <a:pPr algn="l" indent="0" marL="0">
              <a:lnSpc>
                <a:spcPts val="1078"/>
              </a:lnSpc>
              <a:buNone/>
            </a:pPr>
            <a:r>
              <a:rPr lang="en-US" sz="770" i="1" spc="-11" kern="0" dirty="0">
                <a:solidFill>
                  <a:srgbClr val="5E666F"/>
                </a:solidFill>
                <a:latin typeface="Poppins" pitchFamily="34" charset="0"/>
                <a:ea typeface="Poppins" pitchFamily="34" charset="-122"/>
                <a:cs typeface="Poppins" pitchFamily="34" charset="-120"/>
              </a:rPr>
              <a:t>"Partial" means bench tooling or parts exist but assembly is incomplete. "Authorised" requires confirmation by the relevant authorities. Not a certified aircraft or medical device.</a:t>
            </a:r>
            <a:endParaRPr lang="en-US" sz="770" dirty="0"/>
          </a:p>
        </p:txBody>
      </p:sp>
    </p:spTree>
  </p:cSld>
  <p:clrMapOvr>
    <a:masterClrMapping/>
  </p:clrMapOvr>
</p:sld>
</file>

<file path=ppt/slides/slide30.xml><?xml version="1.0" encoding="UTF-8" standalone="yes"?>
<p:sld xmlns:a="http://schemas.openxmlformats.org/drawingml/2006/main" xmlns:r="http://schemas.openxmlformats.org/officeDocument/2006/relationships" xmlns:p="http://schemas.openxmlformats.org/presentationml/2006/main"><p:cSld name="Slide 30"><p:bg><p:bgPr><a:solidFill><a:srgbClr val="FFFFFF"/></a:solidFill></p:bgPr></p:bg><p:spTree><p:nvGrpSpPr><p:cNvPr id="1" name=""/><p:cNvGrpSpPr/><p:nvPr/></p:nvGrpSpPr><p:grpSpPr><a:xfrm><a:off x="0" y="0"/><a:ext cx="0" cy="0"/><a:chOff x="0" y="0"/><a:chExt cx="0" cy="0"/></a:xfrm></p:grpSpPr><p:sp><p:nvSpPr><p:cNvPr id="2" name="Text 0"></p:cNvPr><p:cNvSpPr/><p:nvPr></p:nvPr></p:nvSpPr><p:spPr><a:xfrm><a:off x="381000" y="457200"/><a:ext cx="8382000" cy="368796"/></a:xfrm><a:prstGeom prst="rect"><a:avLst></a:avLst></a:prstGeom><a:noFill/><a:ln></a:ln></p:spPr><p:txBody><a:bodyPr wrap="square" lIns="0" tIns="0" rIns="0" bIns="0" rtlCol="0" anchor="t"></a:bodyPr><a:lstStyle/><a:p><a:pPr algn="l" indent="0" marL="0"><a:lnSpc><a:spcPts val="2904"/></a:lnSpc><a:buNone/></a:pPr><a:r><a:rPr lang="en-US" sz="2420" b="1" spc="-73" kern="0" dirty="0"><a:solidFill><a:srgbClr val="12284C"/></a:solidFill><a:latin typeface="Poppins" pitchFamily="34" charset="0"/><a:ea typeface="Poppins" pitchFamily="34" charset="-122"/><a:cs typeface="Poppins" pitchFamily="34" charset="-120"/></a:rPr><a:t>Recap and Sources</a:t></a:r><a:endParaRPr lang="en-US" sz="2420" dirty="0"/></a:p></p:txBody></p:sp><p:pic>  <p:nvPicPr><p:cNvPr id="3" name="Image 0" descr="Karhunkierros SAR Technical Illustration">    </p:cNvPr>    <p:cNvPicPr><a:picLocks noChangeAspect="1"/></p:cNvPicPr>    <p:nvPr></p:nvPr>  </p:nvPicPr><p:blipFill><a:blip r:embed="rId1"></a:blip>  <a:stretch><a:fillRect/></a:stretch></p:blipFill><p:spPr> <a:xfrm>  <a:off x="460328" y="1127522"/>  <a:ext cx="4374351" cy="3266182"/> </a:xfrm> <a:prstGeom prst="rect"><a:avLst/></a:prstGeom></p:spPr></p:pic><p:sp><p:nvSpPr><p:cNvPr id="4" name="Text 1"></p:cNvPr><p:cNvSpPr/><p:nvPr></p:nvPr></p:nvSpPr><p:spPr><a:xfrm><a:off x="5123483" y="965597"/><a:ext cx="3569717" cy="3630216"/></a:xfrm><a:prstGeom prst="rect"><a:avLst></a:avLst></a:prstGeom><a:noFill/><a:ln></a:ln></p:spPr><p:txBody><a:bodyPr wrap="square" lIns="0" tIns="0" rIns="0" bIns="0" rtlCol="0" anchor="t"></a:bodyPr><a:lstStyle/><a:p><a:pPr algn="l" indent="0" marL="0"><a:lnSpc><a:spcPts val="1540"/></a:lnSpc><a:buNone/></a:pPr><a:r><a:rPr lang="en-US" sz="1100" b="1" spc="-11" kern="0" dirty="0"><a:solidFill><a:srgbClr val="5E666F"/></a:solidFill><a:latin typeface="Poppins" pitchFamily="34" charset="0"/><a:ea typeface="Poppins" pitchFamily="34" charset="-122"/><a:cs typeface="Poppins" pitchFamily="34" charset="-120"/></a:rPr><a:t>Source</a:t></a:r><a:endParaRPr lang="en-US" sz="1100" dirty="0"/></a:p><a:p><a:pPr marL="228600" indent="-228600"><a:lnSpc><a:spcPts val="1540"/></a:lnSpc><a:spcBef><a:spcPts val="989"/></a:spcBef><a:spcAft><a:spcPts val="440"/></a:spcAft><a:buSzPct val="100000"/><a:buChar char="&#x2022;"/></a:pPr><a:r><a:rPr lang="en-US" sz="1100" i="1" spc="-11" kern="0" dirty="0"><a:solidFill><a:srgbClr val="5E666F"/></a:solidFill><a:latin typeface="Poppins" pitchFamily="34" charset="0"/><a:ea typeface="Poppins" pitchFamily="34" charset="-122"/><a:cs typeface="Poppins" pitchFamily="34" charset="-120"/></a:rPr><a:t>README.md & DESIGN_EVOLUTION_AND_STABILIZATION_LOG.md</a:t></a:r><a:pPr indent="0" marL="0"><a:lnSpc><a:spcPts val="1540"/></a:lnSpc><a:spcBef><a:spcPts val="989"/></a:spcBef><a:spcAft><a:spcPts val="440"/></a:spcAft><a:buNone/></a:pPr><a:r><a:rPr lang="en-US" sz="1100" spc="-11" kern="0" dirty="0"><a:solidFill><a:srgbClr val="5E666F"/></a:solidFill><a:latin typeface="Poppins" pitchFamily="34" charset="0"/><a:ea typeface="Poppins" pitchFamily="34" charset="-122"/><a:cs typeface="Poppins" pitchFamily="34" charset="-120"/></a:rPr><a:t>, 20 October 2026: README and Finnish brief (v1.6); design log and technical guide (v2.0, F01–F53)</a:t></a:r><a:endParaRPr lang="en-US" sz="1100" dirty="0"/></a:p><a:p><a:pPr marL="228600" indent="-228600"><a:lnSpc><a:spcPts val="1540"/></a:lnSpc><a:spcAft><a:spcPts val="440"/></a:spcAft><a:buSzPct val="100000"/><a:buChar char="&#x2022;"/></a:pPr><a:r><a:rPr lang="en-US" sz="1100" spc="-11" kern="0" dirty="0"><a:solidFill><a:srgbClr val="5E666F"/></a:solidFill><a:latin typeface="Poppins" pitchFamily="34" charset="0"/><a:ea typeface="Poppins" pitchFamily="34" charset="-122"/><a:cs typeface="Poppins" pitchFamily="34" charset="-120"/></a:rPr><a:t>The packet&apos;s editorial reconciliation is applied on every slide</a:t></a:r><a:endParaRPr lang="en-US" sz="1100" dirty="0"/></a:p><a:p><a:pPr marL="228600" indent="-228600"><a:lnSpc><a:spcPts val="1540"/></a:lnSpc><a:spcAft><a:spcPts val="440"/></a:spcAft><a:buSzPct val="100000"/><a:buChar char="&#x2022;"/></a:pPr><a:r><a:rPr lang="en-US" sz="1100" spc="-11" kern="0" dirty="0"><a:solidFill><a:srgbClr val="5E666F"/></a:solidFill><a:latin typeface="Poppins" pitchFamily="34" charset="0"/><a:ea typeface="Poppins" pitchFamily="34" charset="-122"/><a:cs typeface="Poppins" pitchFamily="34" charset="-120"/></a:rPr><a:t>Where versions conflict, v2.0 governs: </a:t></a:r><a:pPr indent="0" marL="0"><a:lnSpc><a:spcPts val="1540"/></a:lnSpc><a:spcAft><a:spcPts val="440"/></a:spcAft><a:buNone/></a:pPr><a:r><a:rPr lang="en-US" sz="1100" b="1" spc="-11" kern="0" dirty="0"><a:solidFill><a:srgbClr val="5E666F"/></a:solidFill><a:latin typeface="Poppins" pitchFamily="34" charset="0"/><a:ea typeface="Poppins" pitchFamily="34" charset="-122"/><a:cs typeface="Poppins" pitchFamily="34" charset="-120"/></a:rPr><a:t>€1,329</a:t></a:r><a:pPr indent="0" marL="0"><a:lnSpc><a:spcPts val="1540"/></a:lnSpc><a:spcAft><a:spcPts val="440"/></a:spcAft><a:buNone/></a:pPr><a:r><a:rPr lang="en-US" sz="1100" spc="-11" kern="0" dirty="0"><a:solidFill><a:srgbClr val="5E666F"/></a:solidFill><a:latin typeface="Poppins" pitchFamily="34" charset="0"/><a:ea typeface="Poppins" pitchFamily="34" charset="-122"/><a:cs typeface="Poppins" pitchFamily="34" charset="-120"/></a:rPr><a:t> core BOM, 1,500 lm spotlight, 256×192 thermal</a:t></a:r><a:endParaRPr lang="en-US" sz="1100" dirty="0"/></a:p><a:p><a:pPr algn="l" indent="0" marL="0"><a:lnSpc><a:spcPts val="1540"/></a:lnSpc><a:spcBef><a:spcPts val="220"/></a:spcBef><a:buNone/></a:pPr><a:r><a:rPr lang="en-US" sz="1100" b="1" spc="-11" kern="0" dirty="0"><a:solidFill><a:srgbClr val="5E666F"/></a:solidFill><a:latin typeface="Poppins" pitchFamily="34" charset="0"/><a:ea typeface="Poppins" pitchFamily="34" charset="-122"/><a:cs typeface="Poppins" pitchFamily="34" charset="-120"/></a:rPr><a:t>Status</a:t></a:r><a:endParaRPr lang="en-US" sz="1100" dirty="0"/></a:p><a:p><a:pPr marL="228600" indent="-228600"><a:lnSpc><a:spcPts val="1540"/></a:lnSpc><a:spcBef><a:spcPts val="989"/></a:spcBef><a:spcAft><a:spcPts val="440"/></a:spcAft><a:buSzPct val="100000"/><a:buChar char="&#x2022;"/></a:pPr><a:r><a:rPr lang="en-US" sz="1100" spc="-11" kern="0" dirty="0"><a:solidFill><a:srgbClr val="5E666F"/></a:solidFill><a:latin typeface="Poppins" pitchFamily="34" charset="0"/><a:ea typeface="Poppins" pitchFamily="34" charset="-122"/><a:cs typeface="Poppins" pitchFamily="34" charset="-120"/></a:rPr><a:t>Draft for discussion; open-source reference design</a:t></a:r><a:endParaRPr lang="en-US" sz="1100" dirty="0"/></a:p><a:p><a:pPr marL="228600" indent="-228600"><a:lnSpc><a:spcPts val="1540"/></a:lnSpc><a:spcAft><a:spcPts val="440"/></a:spcAft><a:buSzPct val="100000"/><a:buChar char="&#x2022;"/></a:pPr><a:r><a:rPr lang="en-US" sz="1100" spc="-11" kern="0" dirty="0"><a:solidFill><a:srgbClr val="5E666F"/></a:solidFill><a:latin typeface="Poppins" pitchFamily="34" charset="0"/><a:ea typeface="Poppins" pitchFamily="34" charset="-122"/><a:cs typeface="Poppins" pitchFamily="34" charset="-120"/></a:rPr><a:t>Performance figures are design targets or simulation outputs</a:t></a:r><a:endParaRPr lang="en-US" sz="1100" dirty="0"/></a:p><a:p><a:pPr marL="228600" indent="-228600"><a:lnSpc><a:spcPts val="1540"/></a:lnSpc><a:spcAft><a:spcPts val="440"/></a:spcAft><a:buSzPct val="100000"/><a:buChar char="&#x2022;"/></a:pPr><a:r><a:rPr lang="en-US" sz="1100" spc="-11" kern="0" dirty="0"><a:solidFill><a:srgbClr val="5E666F"/></a:solidFill><a:latin typeface="Poppins" pitchFamily="34" charset="0"/><a:ea typeface="Poppins" pitchFamily="34" charset="-122"/><a:cs typeface="Poppins" pitchFamily="34" charset="-120"/></a:rPr><a:t>Agency links are proposed interfaces</a:t></a:r><a:endParaRPr lang="en-US" sz="1100" dirty="0"/></a:p><a:p><a:pPr algn="l" indent="0" marL="0"><a:lnSpc><a:spcPts val="1540"/></a:lnSpc><a:spcBef><a:spcPts val="220"/></a:spcBef><a:buNone/></a:pPr><a:r><a:rPr lang="en-US" sz="1100" spc="-11" kern="0" dirty="0"><a:solidFill><a:srgbClr val="5E666F"/></a:solidFill><a:latin typeface="Poppins" pitchFamily="34" charset="0"/><a:ea typeface="Poppins" pitchFamily="34" charset="-122"/><a:cs typeface="Poppins" pitchFamily="34" charset="-120"/></a:rPr><a:t>Full source code & unit tests in repository.</a:t></a:r><a:endParaRPr lang="en-US" sz="1100" dirty="0"/></a:p></p:txBody></p:sp></p:spTree></p:cSld><p:clrMapOvr><a:masterClrMapping/></p:clrMapOvr></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Karhunkierros SAR — The Complete Wilderness Rescue System</dc:title>
  <dc:subject>Karhunkierros SAR Reference Architecture</dc:subject>
  <dc:creator>arctic-trail</dc:creator>
  <cp:lastModifiedBy>arctic-trail</cp:lastModifiedBy>
  <cp:revision>1</cp:revision>
  <dcterms:created xsi:type="dcterms:W3CDTF">2026-10-20T00:00:00Z</dcterms:created>
  <dcterms:modified xsi:type="dcterms:W3CDTF">2026-10-20T00:00:00Z</dcterms:modified>
</cp:coreProperties>
</file>